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8"/>
  </p:notesMasterIdLst>
  <p:sldIdLst>
    <p:sldId id="256" r:id="rId2"/>
    <p:sldId id="257" r:id="rId3"/>
    <p:sldId id="261" r:id="rId4"/>
    <p:sldId id="286" r:id="rId5"/>
    <p:sldId id="426" r:id="rId6"/>
    <p:sldId id="427" r:id="rId7"/>
    <p:sldId id="428" r:id="rId8"/>
    <p:sldId id="429" r:id="rId9"/>
    <p:sldId id="430" r:id="rId10"/>
    <p:sldId id="431" r:id="rId11"/>
    <p:sldId id="432" r:id="rId12"/>
    <p:sldId id="433" r:id="rId13"/>
    <p:sldId id="434" r:id="rId14"/>
    <p:sldId id="435" r:id="rId15"/>
    <p:sldId id="436" r:id="rId16"/>
    <p:sldId id="437" r:id="rId17"/>
    <p:sldId id="438" r:id="rId18"/>
    <p:sldId id="439" r:id="rId19"/>
    <p:sldId id="440" r:id="rId20"/>
    <p:sldId id="441" r:id="rId21"/>
    <p:sldId id="442" r:id="rId22"/>
    <p:sldId id="443" r:id="rId23"/>
    <p:sldId id="444" r:id="rId24"/>
    <p:sldId id="445" r:id="rId25"/>
    <p:sldId id="446" r:id="rId26"/>
    <p:sldId id="447" r:id="rId27"/>
    <p:sldId id="448" r:id="rId28"/>
    <p:sldId id="449" r:id="rId29"/>
    <p:sldId id="450" r:id="rId30"/>
    <p:sldId id="451" r:id="rId31"/>
    <p:sldId id="452" r:id="rId32"/>
    <p:sldId id="425" r:id="rId33"/>
    <p:sldId id="453" r:id="rId34"/>
    <p:sldId id="454" r:id="rId35"/>
    <p:sldId id="455" r:id="rId36"/>
    <p:sldId id="269" r:id="rId37"/>
  </p:sldIdLst>
  <p:sldSz cx="9144000" cy="5143500" type="screen16x9"/>
  <p:notesSz cx="6858000" cy="9144000"/>
  <p:embeddedFontLst>
    <p:embeddedFont>
      <p:font typeface="Lato" panose="020F0502020204030203" pitchFamily="34" charset="0"/>
      <p:regular r:id="rId39"/>
      <p:bold r:id="rId40"/>
      <p:italic r:id="rId41"/>
      <p:boldItalic r:id="rId42"/>
    </p:embeddedFont>
    <p:embeddedFont>
      <p:font typeface="Proxima Nova" panose="020B0604020202020204" charset="0"/>
      <p:regular r:id="rId43"/>
      <p:bold r:id="rId44"/>
      <p:italic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20" name="Google Shape;6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D03D2520-6B97-3365-B6B8-357607ADC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7EB1C051-27AF-43B7-C01E-9DDD7D9F31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9F6B7279-808F-49F1-B5C8-BD7A93B71B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4187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9F144D68-DA8D-BC09-C43B-C9A3A0F06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2E93372F-E57E-B52E-39FD-996C56492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0D99CCBD-A52F-EF20-F7C8-F122FCEEC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2420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B3D792F1-0F92-9B18-7947-4C367CBF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52C1CB98-A29A-503F-F960-4192447404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894900A1-127E-CAC0-0DE8-E62353A5B8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1174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67088C2E-D4A1-FE21-C6ED-59DB0962C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A8567C44-0B28-873E-B952-7A0DB0478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BF309D85-304A-C88C-574C-5869EBA21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5806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25FD46B3-9292-4F35-91C7-359BE7C90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B53CD379-BDF7-F048-08F9-8ABED3D3E9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C04085EF-B328-2144-794D-A5EE07D764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2609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75B476A6-A698-1229-7DAF-57FC39FB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2A0309EC-4FEB-BF35-DF4E-463A7AC5D1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F6CC188B-16D8-0A74-E383-9CA1DF752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4535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A900F4C3-62C6-3ADE-084D-D79245BCD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DC87FEC8-36A3-B3FA-2C2E-83BB80D67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D744FB93-782B-68BF-445E-942B8FC71B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1116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CFA2C5AF-1A14-BA1E-0636-BAA187629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6CCCABDB-0026-C3BC-34CD-3D79BD32BF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90B513D2-EB29-840B-6EBD-692555E5EB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2531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6663ACF4-467C-9074-54CF-2F7FDC776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55163BB3-2902-2BA6-8B00-D6CC8CA51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AB3E1F73-D899-0779-C092-64D36DB97A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65322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22CE2794-3457-AB71-632B-4C28F06C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EBDAC8F7-CF64-FDC5-F773-B5CD4733D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6F41D07F-64CE-C7F9-AB5B-4E720880D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7047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66353BD5-C12E-6B16-CBBF-623B48A5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9423AE19-CB08-BBA8-3171-42E30D1A1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7CCBCB70-0EAF-2CFA-EFFC-3DB16FF4AD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14010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148B6316-03CE-4C74-D108-3CD87882B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A47586CB-C825-252A-BF64-E7D4D14ED6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D0E67F90-177A-32E7-FB54-5DEC6A046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5044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535DF2F6-FFCC-0C5C-55F4-860D1695E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FA6409C3-40F3-0232-F22B-6830A1622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A8ED7FCF-D0A9-35C5-7B39-E444BF05AA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38858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D3EAC543-607F-52C4-607F-099FA9433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732528E4-B42F-EB98-7344-9664183D4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2450BDBD-F559-CF3F-7FAA-D2529760F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37949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03C14C4B-E2F1-AF69-59D9-28B3DABC1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B61E3462-65CA-4675-1293-828E4B017F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3D408F40-89A9-A79F-C0AE-A00ED78954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3871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9CA0EAA0-C91E-9395-4D54-FF17F82E2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71E9AEE3-7084-7958-EAFA-39562E5C55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3D886D8B-65EF-5130-7C55-113735A9C6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40574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A51FD220-562D-D59C-CB61-A02D4FB2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1052E62F-A4D9-CCF6-2B21-56FFFB834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D69A0997-AE2B-7B07-D267-ACD70AB6E6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63679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36008E3E-C707-B921-346B-E1ABDEB0C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2E0429E5-FDB0-1D83-F35B-3C1DDD337C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F2D15236-E05A-9ED4-ACBF-ECCE606004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19031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24700FD7-C905-63BA-B365-3C946948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B21893FE-A62B-C2AA-1EEB-837499D68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A6B8C399-6AE6-EF41-70BC-7D8E91782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95047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41B50D53-8D0B-CC1B-39F7-F07E7E9AA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7E63BF72-38BE-F41D-C425-18C5DDA9B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2C3E038E-6A0F-723D-1CDD-540BD7B10B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15373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E796C6E0-1982-ACBE-6568-2CCF8EF4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D3FFB972-A0D2-9F65-FB12-8372AF030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27B6634E-8BBE-3F4E-1569-5F36DC439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83119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5ACE7663-0F9E-15D9-31E1-6ADB9289D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415D0C8E-CCDE-4F69-8FC1-9FF268C61C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FC275F2D-7005-DBC1-6421-F68AA4DB1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46602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24A5B5C6-C57A-F2FD-0149-44DB82D69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2FE0C291-8629-ECFB-8750-FD9561B32B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419C9AEB-872B-CBC6-A3EC-43902E7E12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14916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C6679CE9-05AF-AF75-6361-3022A9B7A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79C75C54-4740-38BB-9462-9A31FBE29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26077B06-E7B0-3AE9-ED5C-F0C9082E9E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9050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1684AC62-8F2C-0445-DCF6-8947EFBA2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5F87DF5E-AADE-1607-FF02-88BF518F9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DA615B5B-62EB-8237-CB74-EFB543FD34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39986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E5306A0F-9EFA-ADF2-D7B7-FD4479C4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F45B56EE-A8E5-8A98-2080-F193B677F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F9385D13-DCB2-C296-5965-0FE385277F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99195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45B43421-4CC5-7349-AC98-2F31B02F1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>
            <a:extLst>
              <a:ext uri="{FF2B5EF4-FFF2-40B4-BE49-F238E27FC236}">
                <a16:creationId xmlns:a16="http://schemas.microsoft.com/office/drawing/2014/main" id="{BFB9744A-6E19-B12E-EB7D-C49D9C9411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7:notes">
            <a:extLst>
              <a:ext uri="{FF2B5EF4-FFF2-40B4-BE49-F238E27FC236}">
                <a16:creationId xmlns:a16="http://schemas.microsoft.com/office/drawing/2014/main" id="{0248457C-3809-422C-5958-85001756EA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8666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>
          <a:extLst>
            <a:ext uri="{FF2B5EF4-FFF2-40B4-BE49-F238E27FC236}">
              <a16:creationId xmlns:a16="http://schemas.microsoft.com/office/drawing/2014/main" id="{A265FFE2-26CF-8677-1E92-9C089FB8C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2:notes">
            <a:extLst>
              <a:ext uri="{FF2B5EF4-FFF2-40B4-BE49-F238E27FC236}">
                <a16:creationId xmlns:a16="http://schemas.microsoft.com/office/drawing/2014/main" id="{09E49AF5-CE90-91C2-EB54-37E01F0B7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12:notes">
            <a:extLst>
              <a:ext uri="{FF2B5EF4-FFF2-40B4-BE49-F238E27FC236}">
                <a16:creationId xmlns:a16="http://schemas.microsoft.com/office/drawing/2014/main" id="{662CB948-1DA1-5908-C70D-E31F1F42E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91397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>
          <a:extLst>
            <a:ext uri="{FF2B5EF4-FFF2-40B4-BE49-F238E27FC236}">
              <a16:creationId xmlns:a16="http://schemas.microsoft.com/office/drawing/2014/main" id="{E52A8CC5-46F2-8ABA-B6FD-DA612E358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2:notes">
            <a:extLst>
              <a:ext uri="{FF2B5EF4-FFF2-40B4-BE49-F238E27FC236}">
                <a16:creationId xmlns:a16="http://schemas.microsoft.com/office/drawing/2014/main" id="{7D906E6C-6A5D-E900-C7EA-A2820CEF3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12:notes">
            <a:extLst>
              <a:ext uri="{FF2B5EF4-FFF2-40B4-BE49-F238E27FC236}">
                <a16:creationId xmlns:a16="http://schemas.microsoft.com/office/drawing/2014/main" id="{51042AA4-12AE-914D-6725-FC8D8B10F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26569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>
          <a:extLst>
            <a:ext uri="{FF2B5EF4-FFF2-40B4-BE49-F238E27FC236}">
              <a16:creationId xmlns:a16="http://schemas.microsoft.com/office/drawing/2014/main" id="{1DC28524-F9EB-EFCC-FF22-465B6C103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2:notes">
            <a:extLst>
              <a:ext uri="{FF2B5EF4-FFF2-40B4-BE49-F238E27FC236}">
                <a16:creationId xmlns:a16="http://schemas.microsoft.com/office/drawing/2014/main" id="{643607F3-CC03-A5EC-6249-3D5AA9654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12:notes">
            <a:extLst>
              <a:ext uri="{FF2B5EF4-FFF2-40B4-BE49-F238E27FC236}">
                <a16:creationId xmlns:a16="http://schemas.microsoft.com/office/drawing/2014/main" id="{9002D35E-9444-67CD-8886-78B23650E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18338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>
          <a:extLst>
            <a:ext uri="{FF2B5EF4-FFF2-40B4-BE49-F238E27FC236}">
              <a16:creationId xmlns:a16="http://schemas.microsoft.com/office/drawing/2014/main" id="{AC75DD38-AE5B-B65D-E994-39ADB0C3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2:notes">
            <a:extLst>
              <a:ext uri="{FF2B5EF4-FFF2-40B4-BE49-F238E27FC236}">
                <a16:creationId xmlns:a16="http://schemas.microsoft.com/office/drawing/2014/main" id="{677A9096-708D-6904-95F1-E9E38CCDC3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12:notes">
            <a:extLst>
              <a:ext uri="{FF2B5EF4-FFF2-40B4-BE49-F238E27FC236}">
                <a16:creationId xmlns:a16="http://schemas.microsoft.com/office/drawing/2014/main" id="{A2FEB11F-BB06-219E-9AC4-C8A620E042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7292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5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63921" y="465388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2D4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6E57D50-70D7-498F-8408-81664120CCC7}" type="datetime1">
              <a:rPr lang="en-US" smtClean="0"/>
              <a:t>7/28/2025</a:t>
            </a:fld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0" y="0"/>
            <a:ext cx="9144000" cy="465388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3922" y="571887"/>
            <a:ext cx="2057400" cy="54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2_Divi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fld id="{9D710723-EFC9-4E16-8043-185F7C0205A0}" type="datetime1">
              <a:rPr lang="en-US" smtClean="0"/>
              <a:t>7/28/2025</a:t>
            </a:fld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-431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30238" y="544498"/>
            <a:ext cx="5990568" cy="56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0D95D89-D942-4C59-8C39-CB9E053FA3AA}" type="datetime1">
              <a:rPr lang="en-US" smtClean="0"/>
              <a:t>7/28/2025</a:t>
            </a:fld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2 Line Title, Infographics and Caption">
  <p:cSld name="2_2 Line Title, Infographics and 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-1" y="600076"/>
            <a:ext cx="9144001" cy="45434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-3" y="-20049"/>
            <a:ext cx="9144001" cy="5143500"/>
          </a:xfrm>
          <a:prstGeom prst="rect">
            <a:avLst/>
          </a:prstGeom>
          <a:blipFill rotWithShape="1">
            <a:blip r:embed="rId2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>
            <a:spLocks noGrp="1"/>
          </p:cNvSpPr>
          <p:nvPr>
            <p:ph type="pic" idx="2"/>
          </p:nvPr>
        </p:nvSpPr>
        <p:spPr>
          <a:xfrm>
            <a:off x="-2" y="-12112"/>
            <a:ext cx="9144002" cy="51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>
            <a:spLocks noGrp="1"/>
          </p:cNvSpPr>
          <p:nvPr>
            <p:ph type="pic" idx="3"/>
          </p:nvPr>
        </p:nvSpPr>
        <p:spPr>
          <a:xfrm>
            <a:off x="10220734" y="-3856910"/>
            <a:ext cx="9144001" cy="51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BDBADE8-3638-4433-B42C-44FB9439CBCB}" type="datetime1">
              <a:rPr lang="en-US" smtClean="0"/>
              <a:t>7/28/2025</a:t>
            </a:fld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3213848" y="3489722"/>
            <a:ext cx="5355081" cy="83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048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3847" y="2234762"/>
            <a:ext cx="5373512" cy="11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/>
          <p:nvPr/>
        </p:nvSpPr>
        <p:spPr>
          <a:xfrm>
            <a:off x="642167" y="610235"/>
            <a:ext cx="5493203" cy="864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Arial"/>
              <a:buNone/>
            </a:pPr>
            <a:r>
              <a:rPr lang="en-IN" sz="3600" b="0">
                <a:solidFill>
                  <a:srgbClr val="F5333F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 sz="3600" b="0">
              <a:solidFill>
                <a:srgbClr val="F533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1718595" y="3690308"/>
            <a:ext cx="870" cy="1071"/>
          </a:xfrm>
          <a:custGeom>
            <a:avLst/>
            <a:gdLst/>
            <a:ahLst/>
            <a:cxnLst/>
            <a:rect l="l" t="t" r="r" b="b"/>
            <a:pathLst>
              <a:path w="870" h="1071" extrusionOk="0">
                <a:moveTo>
                  <a:pt x="0" y="0"/>
                </a:moveTo>
                <a:lnTo>
                  <a:pt x="870" y="0"/>
                </a:lnTo>
                <a:lnTo>
                  <a:pt x="870" y="10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2731">
          <p15:clr>
            <a:srgbClr val="FBAE40"/>
          </p15:clr>
        </p15:guide>
        <p15:guide id="3" orient="horz" pos="219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 Line Title and Content">
  <p:cSld name="1_2 Line 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8F4DB91-E867-4C50-B8DF-82E0249F6E5B}" type="datetime1">
              <a:rPr lang="en-US" smtClean="0"/>
              <a:t>7/28/2025</a:t>
            </a:fld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1"/>
          </p:nvPr>
        </p:nvSpPr>
        <p:spPr>
          <a:xfrm>
            <a:off x="3303588" y="1816100"/>
            <a:ext cx="5265737" cy="261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2794">
          <p15:clr>
            <a:srgbClr val="FBAE40"/>
          </p15:clr>
        </p15:guide>
        <p15:guide id="5" pos="2081">
          <p15:clr>
            <a:srgbClr val="FBAE40"/>
          </p15:clr>
        </p15:guide>
        <p15:guide id="6" orient="horz" pos="11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icture and caption">
  <p:cSld name="Title, picture and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>
            <a:spLocks noGrp="1"/>
          </p:cNvSpPr>
          <p:nvPr>
            <p:ph type="pic" idx="2"/>
          </p:nvPr>
        </p:nvSpPr>
        <p:spPr>
          <a:xfrm>
            <a:off x="4136817" y="1681163"/>
            <a:ext cx="4535267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648274" y="1681163"/>
            <a:ext cx="3140075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588B8A2-52D0-4844-9000-A814AFF4C2B6}" type="datetime1">
              <a:rPr lang="en-US" smtClean="0"/>
              <a:t>7/28/2025</a:t>
            </a:fld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053">
          <p15:clr>
            <a:srgbClr val="FBAE40"/>
          </p15:clr>
        </p15:guide>
        <p15:guide id="3" orient="horz" pos="2845">
          <p15:clr>
            <a:srgbClr val="FBAE40"/>
          </p15:clr>
        </p15:guide>
        <p15:guide id="4" pos="3254">
          <p15:clr>
            <a:srgbClr val="FBAE40"/>
          </p15:clr>
        </p15:guide>
        <p15:guide id="5" pos="339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1_Divider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8" name="Google Shape;338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98F209D-3E15-4AFE-AC2E-C12C8469511E}" type="datetime1">
              <a:rPr lang="en-US" smtClean="0"/>
              <a:t>7/28/2025</a:t>
            </a:fld>
            <a:endParaRPr/>
          </a:p>
        </p:txBody>
      </p:sp>
      <p:sp>
        <p:nvSpPr>
          <p:cNvPr id="339" name="Google Shape;339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40" name="Google Shape;34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  <p:pic>
        <p:nvPicPr>
          <p:cNvPr id="342" name="Google Shape;342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3 picture with caption">
  <p:cSld name="Title and 3 picture with caption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629841" y="600075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22"/>
          <p:cNvSpPr>
            <a:spLocks noGrp="1"/>
          </p:cNvSpPr>
          <p:nvPr>
            <p:ph type="pic" idx="2"/>
          </p:nvPr>
        </p:nvSpPr>
        <p:spPr>
          <a:xfrm>
            <a:off x="1445363" y="1382268"/>
            <a:ext cx="1668121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9" name="Google Shape;349;p22"/>
          <p:cNvSpPr>
            <a:spLocks noGrp="1"/>
          </p:cNvSpPr>
          <p:nvPr>
            <p:ph type="pic" idx="3"/>
          </p:nvPr>
        </p:nvSpPr>
        <p:spPr>
          <a:xfrm>
            <a:off x="3744984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0" name="Google Shape;350;p22"/>
          <p:cNvSpPr>
            <a:spLocks noGrp="1"/>
          </p:cNvSpPr>
          <p:nvPr>
            <p:ph type="pic" idx="4"/>
          </p:nvPr>
        </p:nvSpPr>
        <p:spPr>
          <a:xfrm>
            <a:off x="6055443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1" name="Google Shape;351;p22"/>
          <p:cNvSpPr txBox="1">
            <a:spLocks noGrp="1"/>
          </p:cNvSpPr>
          <p:nvPr>
            <p:ph type="body" idx="1"/>
          </p:nvPr>
        </p:nvSpPr>
        <p:spPr>
          <a:xfrm>
            <a:off x="1439466" y="3519224"/>
            <a:ext cx="1674019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2" name="Google Shape;352;p22"/>
          <p:cNvSpPr txBox="1">
            <a:spLocks noGrp="1"/>
          </p:cNvSpPr>
          <p:nvPr>
            <p:ph type="body" idx="5"/>
          </p:nvPr>
        </p:nvSpPr>
        <p:spPr>
          <a:xfrm>
            <a:off x="3744985" y="3519224"/>
            <a:ext cx="1654032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3" name="Google Shape;353;p22"/>
          <p:cNvSpPr txBox="1">
            <a:spLocks noGrp="1"/>
          </p:cNvSpPr>
          <p:nvPr>
            <p:ph type="body" idx="6"/>
          </p:nvPr>
        </p:nvSpPr>
        <p:spPr>
          <a:xfrm>
            <a:off x="6050503" y="3519223"/>
            <a:ext cx="1654032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4" name="Google Shape;354;p22"/>
          <p:cNvSpPr txBox="1">
            <a:spLocks noGrp="1"/>
          </p:cNvSpPr>
          <p:nvPr>
            <p:ph type="body" idx="7"/>
          </p:nvPr>
        </p:nvSpPr>
        <p:spPr>
          <a:xfrm>
            <a:off x="1439863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5" name="Google Shape;355;p22"/>
          <p:cNvSpPr txBox="1">
            <a:spLocks noGrp="1"/>
          </p:cNvSpPr>
          <p:nvPr>
            <p:ph type="body" idx="8"/>
          </p:nvPr>
        </p:nvSpPr>
        <p:spPr>
          <a:xfrm>
            <a:off x="3735388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6" name="Google Shape;356;p22"/>
          <p:cNvSpPr txBox="1">
            <a:spLocks noGrp="1"/>
          </p:cNvSpPr>
          <p:nvPr>
            <p:ph type="body" idx="9"/>
          </p:nvPr>
        </p:nvSpPr>
        <p:spPr>
          <a:xfrm>
            <a:off x="6050502" y="3862520"/>
            <a:ext cx="1658973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7" name="Google Shape;357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71C3FBA-01C5-46F3-8A41-19DFC19EBD26}" type="datetime1">
              <a:rPr lang="en-US" smtClean="0"/>
              <a:t>7/28/2025</a:t>
            </a:fld>
            <a:endParaRPr/>
          </a:p>
        </p:txBody>
      </p:sp>
      <p:sp>
        <p:nvSpPr>
          <p:cNvPr id="358" name="Google Shape;358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9" name="Google Shape;3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10">
          <p15:clr>
            <a:srgbClr val="FBAE40"/>
          </p15:clr>
        </p15:guide>
        <p15:guide id="2" orient="horz" pos="2391">
          <p15:clr>
            <a:srgbClr val="FBAE40"/>
          </p15:clr>
        </p15:guide>
        <p15:guide id="3" orient="horz" pos="2096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907">
          <p15:clr>
            <a:srgbClr val="FBAE40"/>
          </p15:clr>
        </p15:guide>
        <p15:guide id="6" orient="horz" pos="872">
          <p15:clr>
            <a:srgbClr val="FBAE40"/>
          </p15:clr>
        </p15:guide>
        <p15:guide id="7" pos="1961">
          <p15:clr>
            <a:srgbClr val="FBAE40"/>
          </p15:clr>
        </p15:guide>
        <p15:guide id="8" pos="2353">
          <p15:clr>
            <a:srgbClr val="FBAE40"/>
          </p15:clr>
        </p15:guide>
        <p15:guide id="9" pos="3407">
          <p15:clr>
            <a:srgbClr val="FBAE40"/>
          </p15:clr>
        </p15:guide>
        <p15:guide id="10" pos="3810">
          <p15:clr>
            <a:srgbClr val="FBAE40"/>
          </p15:clr>
        </p15:guide>
        <p15:guide id="11" pos="485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2 pictures">
  <p:cSld name="Title and 2 pictures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 txBox="1">
            <a:spLocks noGrp="1"/>
          </p:cNvSpPr>
          <p:nvPr>
            <p:ph type="title"/>
          </p:nvPr>
        </p:nvSpPr>
        <p:spPr>
          <a:xfrm>
            <a:off x="642473" y="546498"/>
            <a:ext cx="5902706" cy="56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4599929" y="1870236"/>
            <a:ext cx="3921771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>
            <a:spLocks noGrp="1"/>
          </p:cNvSpPr>
          <p:nvPr>
            <p:ph type="pic" idx="2"/>
          </p:nvPr>
        </p:nvSpPr>
        <p:spPr>
          <a:xfrm>
            <a:off x="4599929" y="1868092"/>
            <a:ext cx="3921771" cy="232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5" name="Google Shape;365;p23"/>
          <p:cNvSpPr>
            <a:spLocks noGrp="1"/>
          </p:cNvSpPr>
          <p:nvPr>
            <p:ph type="pic" idx="3"/>
          </p:nvPr>
        </p:nvSpPr>
        <p:spPr>
          <a:xfrm>
            <a:off x="621848" y="1868091"/>
            <a:ext cx="25920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6" name="Google Shape;366;p23"/>
          <p:cNvSpPr txBox="1">
            <a:spLocks noGrp="1"/>
          </p:cNvSpPr>
          <p:nvPr>
            <p:ph type="body" idx="1"/>
          </p:nvPr>
        </p:nvSpPr>
        <p:spPr>
          <a:xfrm>
            <a:off x="629841" y="3145632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15"/>
              <a:buFont typeface="Arial"/>
              <a:buNone/>
              <a:defRPr sz="1215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7" name="Google Shape;367;p23"/>
          <p:cNvSpPr txBox="1">
            <a:spLocks noGrp="1"/>
          </p:cNvSpPr>
          <p:nvPr>
            <p:ph type="body" idx="4"/>
          </p:nvPr>
        </p:nvSpPr>
        <p:spPr>
          <a:xfrm>
            <a:off x="635000" y="3515616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Arial"/>
              <a:buNone/>
              <a:defRPr sz="131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8" name="Google Shape;368;p23"/>
          <p:cNvSpPr txBox="1">
            <a:spLocks noGrp="1"/>
          </p:cNvSpPr>
          <p:nvPr>
            <p:ph type="dt" idx="10"/>
          </p:nvPr>
        </p:nvSpPr>
        <p:spPr>
          <a:xfrm>
            <a:off x="64247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B3D5388-4AC7-4512-98AD-942212C8470A}" type="datetime1">
              <a:rPr lang="en-US" smtClean="0"/>
              <a:t>7/28/2025</a:t>
            </a:fld>
            <a:endParaRPr/>
          </a:p>
        </p:txBody>
      </p:sp>
      <p:sp>
        <p:nvSpPr>
          <p:cNvPr id="369" name="Google Shape;369;p23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70" name="Google Shape;37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4599929" y="1870236"/>
            <a:ext cx="3969000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178">
          <p15:clr>
            <a:srgbClr val="FBAE40"/>
          </p15:clr>
        </p15:guide>
        <p15:guide id="3" orient="horz" pos="1671">
          <p15:clr>
            <a:srgbClr val="FBAE40"/>
          </p15:clr>
        </p15:guide>
        <p15:guide id="4" orient="horz" pos="1977">
          <p15:clr>
            <a:srgbClr val="FBAE40"/>
          </p15:clr>
        </p15:guide>
        <p15:guide id="5" orient="horz" pos="2930">
          <p15:clr>
            <a:srgbClr val="FBAE40"/>
          </p15:clr>
        </p15:guide>
        <p15:guide id="6" orient="horz" pos="2641">
          <p15:clr>
            <a:srgbClr val="FBAE40"/>
          </p15:clr>
        </p15:guide>
        <p15:guide id="7" pos="289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Icons and Content">
  <p:cSld name="Title, Icons and Conten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7869" y="98885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869" y="146904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869" y="1948824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869" y="2427167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7868" y="2907797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>
            <a:spLocks noGrp="1"/>
          </p:cNvSpPr>
          <p:nvPr>
            <p:ph type="body" idx="1"/>
          </p:nvPr>
        </p:nvSpPr>
        <p:spPr>
          <a:xfrm>
            <a:off x="878243" y="1572506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1" name="Google Shape;381;p24"/>
          <p:cNvSpPr txBox="1">
            <a:spLocks noGrp="1"/>
          </p:cNvSpPr>
          <p:nvPr>
            <p:ph type="body" idx="2"/>
          </p:nvPr>
        </p:nvSpPr>
        <p:spPr>
          <a:xfrm>
            <a:off x="878243" y="1088140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2" name="Google Shape;382;p24"/>
          <p:cNvSpPr txBox="1">
            <a:spLocks noGrp="1"/>
          </p:cNvSpPr>
          <p:nvPr>
            <p:ph type="body" idx="3"/>
          </p:nvPr>
        </p:nvSpPr>
        <p:spPr>
          <a:xfrm>
            <a:off x="878243" y="2046971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3" name="Google Shape;383;p24"/>
          <p:cNvSpPr txBox="1">
            <a:spLocks noGrp="1"/>
          </p:cNvSpPr>
          <p:nvPr>
            <p:ph type="body" idx="4"/>
          </p:nvPr>
        </p:nvSpPr>
        <p:spPr>
          <a:xfrm>
            <a:off x="878243" y="252895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4" name="Google Shape;384;p24"/>
          <p:cNvSpPr txBox="1">
            <a:spLocks noGrp="1"/>
          </p:cNvSpPr>
          <p:nvPr>
            <p:ph type="body" idx="5"/>
          </p:nvPr>
        </p:nvSpPr>
        <p:spPr>
          <a:xfrm>
            <a:off x="878243" y="300539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5" name="Google Shape;385;p24"/>
          <p:cNvSpPr txBox="1">
            <a:spLocks noGrp="1"/>
          </p:cNvSpPr>
          <p:nvPr>
            <p:ph type="body" idx="6"/>
          </p:nvPr>
        </p:nvSpPr>
        <p:spPr>
          <a:xfrm>
            <a:off x="4359486" y="1572507"/>
            <a:ext cx="2413617" cy="231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6" name="Google Shape;386;p24"/>
          <p:cNvSpPr txBox="1">
            <a:spLocks noGrp="1"/>
          </p:cNvSpPr>
          <p:nvPr>
            <p:ph type="body" idx="7"/>
          </p:nvPr>
        </p:nvSpPr>
        <p:spPr>
          <a:xfrm>
            <a:off x="4359486" y="1088140"/>
            <a:ext cx="2413617" cy="24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body" idx="8"/>
          </p:nvPr>
        </p:nvSpPr>
        <p:spPr>
          <a:xfrm>
            <a:off x="4359486" y="2046971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8" name="Google Shape;388;p24"/>
          <p:cNvSpPr txBox="1">
            <a:spLocks noGrp="1"/>
          </p:cNvSpPr>
          <p:nvPr>
            <p:ph type="body" idx="9"/>
          </p:nvPr>
        </p:nvSpPr>
        <p:spPr>
          <a:xfrm>
            <a:off x="4359486" y="252895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body" idx="13"/>
          </p:nvPr>
        </p:nvSpPr>
        <p:spPr>
          <a:xfrm>
            <a:off x="4359486" y="300539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0" name="Google Shape;390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19A054D-51E4-4808-A9F5-A54F6ABEA1A4}" type="datetime1">
              <a:rPr lang="en-US" smtClean="0"/>
              <a:t>7/28/2025</a:t>
            </a:fld>
            <a:endParaRPr/>
          </a:p>
        </p:txBody>
      </p:sp>
      <p:sp>
        <p:nvSpPr>
          <p:cNvPr id="391" name="Google Shape;391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2" name="Google Shape;3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0427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427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427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427" y="243555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0426" y="291618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4155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4154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74153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74153" y="2434706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74153" y="2914489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4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4" name="Google Shape;404;p2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78">
          <p15:clr>
            <a:srgbClr val="FBAE40"/>
          </p15:clr>
        </p15:guide>
        <p15:guide id="2" pos="397">
          <p15:clr>
            <a:srgbClr val="FBAE40"/>
          </p15:clr>
        </p15:guide>
        <p15:guide id="3" orient="horz" pos="378">
          <p15:clr>
            <a:srgbClr val="FBAE40"/>
          </p15:clr>
        </p15:guide>
        <p15:guide id="4" orient="horz" pos="923">
          <p15:clr>
            <a:srgbClr val="FBAE40"/>
          </p15:clr>
        </p15:guide>
        <p15:guide id="5" pos="1638">
          <p15:clr>
            <a:srgbClr val="FBAE40"/>
          </p15:clr>
        </p15:guide>
        <p15:guide id="6" pos="3578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pos="1877">
          <p15:clr>
            <a:srgbClr val="FBAE40"/>
          </p15:clr>
        </p15:guide>
        <p15:guide id="9" pos="1928">
          <p15:clr>
            <a:srgbClr val="FBAE40"/>
          </p15:clr>
        </p15:guide>
        <p15:guide id="10" pos="383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Section Header">
  <p:cSld name="5_Section Header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629841" y="2556933"/>
            <a:ext cx="7891859" cy="82662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" name="Google Shape;408;p25"/>
          <p:cNvGrpSpPr/>
          <p:nvPr/>
        </p:nvGrpSpPr>
        <p:grpSpPr>
          <a:xfrm>
            <a:off x="994787" y="3020755"/>
            <a:ext cx="775019" cy="174751"/>
            <a:chOff x="1326382" y="4041646"/>
            <a:chExt cx="2597497" cy="653143"/>
          </a:xfrm>
        </p:grpSpPr>
        <p:sp>
          <p:nvSpPr>
            <p:cNvPr id="409" name="Google Shape;409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25"/>
          <p:cNvSpPr txBox="1">
            <a:spLocks noGrp="1"/>
          </p:cNvSpPr>
          <p:nvPr>
            <p:ph type="body" idx="1"/>
          </p:nvPr>
        </p:nvSpPr>
        <p:spPr>
          <a:xfrm>
            <a:off x="1029406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5" name="Google Shape;415;p25"/>
          <p:cNvSpPr txBox="1">
            <a:spLocks noGrp="1"/>
          </p:cNvSpPr>
          <p:nvPr>
            <p:ph type="body" idx="2"/>
          </p:nvPr>
        </p:nvSpPr>
        <p:spPr>
          <a:xfrm>
            <a:off x="1921844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6" name="Google Shape;416;p25"/>
          <p:cNvSpPr txBox="1">
            <a:spLocks noGrp="1"/>
          </p:cNvSpPr>
          <p:nvPr>
            <p:ph type="body" idx="3"/>
          </p:nvPr>
        </p:nvSpPr>
        <p:spPr>
          <a:xfrm>
            <a:off x="2868429" y="3714682"/>
            <a:ext cx="2471738" cy="13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7" name="Google Shape;417;p25"/>
          <p:cNvSpPr txBox="1">
            <a:spLocks noGrp="1"/>
          </p:cNvSpPr>
          <p:nvPr>
            <p:ph type="dt" idx="10"/>
          </p:nvPr>
        </p:nvSpPr>
        <p:spPr>
          <a:xfrm>
            <a:off x="6367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B7ED859-1F6A-4C0A-8290-A73B01D02E9A}" type="datetime1">
              <a:rPr lang="en-US" smtClean="0"/>
              <a:t>7/28/2025</a:t>
            </a:fld>
            <a:endParaRPr/>
          </a:p>
        </p:txBody>
      </p:sp>
      <p:sp>
        <p:nvSpPr>
          <p:cNvPr id="418" name="Google Shape;418;p25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19" name="Google Shape;41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629841" y="2535239"/>
            <a:ext cx="7939088" cy="84831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25"/>
          <p:cNvGrpSpPr/>
          <p:nvPr/>
        </p:nvGrpSpPr>
        <p:grpSpPr>
          <a:xfrm>
            <a:off x="923664" y="3020755"/>
            <a:ext cx="775019" cy="174751"/>
            <a:chOff x="1326382" y="4041646"/>
            <a:chExt cx="2597497" cy="653143"/>
          </a:xfrm>
        </p:grpSpPr>
        <p:sp>
          <p:nvSpPr>
            <p:cNvPr id="423" name="Google Shape;423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25"/>
          <p:cNvSpPr txBox="1">
            <a:spLocks noGrp="1"/>
          </p:cNvSpPr>
          <p:nvPr>
            <p:ph type="body" idx="4"/>
          </p:nvPr>
        </p:nvSpPr>
        <p:spPr>
          <a:xfrm>
            <a:off x="958283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9" name="Google Shape;429;p25"/>
          <p:cNvSpPr txBox="1">
            <a:spLocks noGrp="1"/>
          </p:cNvSpPr>
          <p:nvPr>
            <p:ph type="body" idx="5"/>
          </p:nvPr>
        </p:nvSpPr>
        <p:spPr>
          <a:xfrm>
            <a:off x="1850721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0" name="Google Shape;430;p25"/>
          <p:cNvSpPr txBox="1">
            <a:spLocks noGrp="1"/>
          </p:cNvSpPr>
          <p:nvPr>
            <p:ph type="title"/>
          </p:nvPr>
        </p:nvSpPr>
        <p:spPr>
          <a:xfrm>
            <a:off x="630238" y="600075"/>
            <a:ext cx="6246812" cy="44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1" name="Google Shape;43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2210">
          <p15:clr>
            <a:srgbClr val="FBAE40"/>
          </p15:clr>
        </p15:guide>
        <p15:guide id="3" orient="horz" pos="2130">
          <p15:clr>
            <a:srgbClr val="FBAE40"/>
          </p15:clr>
        </p15:guide>
        <p15:guide id="4" orient="horz" pos="1597">
          <p15:clr>
            <a:srgbClr val="FBAE40"/>
          </p15:clr>
        </p15:guide>
        <p15:guide id="5" orient="horz" pos="2641">
          <p15:clr>
            <a:srgbClr val="FBAE40"/>
          </p15:clr>
        </p15:guide>
        <p15:guide id="6" pos="1134">
          <p15:clr>
            <a:srgbClr val="FBAE40"/>
          </p15:clr>
        </p15:guide>
        <p15:guide id="7" pos="433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Imeline Infographic">
  <p:cSld name="Title and TImeline Infographic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79F8DFC-D4EF-4209-8C38-D33E6C762F14}" type="datetime1">
              <a:rPr lang="en-US" smtClean="0"/>
              <a:t>7/28/2025</a:t>
            </a:fld>
            <a:endParaRPr/>
          </a:p>
        </p:txBody>
      </p:sp>
      <p:sp>
        <p:nvSpPr>
          <p:cNvPr id="434" name="Google Shape;434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35" name="Google Shape;435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6"/>
          <p:cNvSpPr txBox="1">
            <a:spLocks noGrp="1"/>
          </p:cNvSpPr>
          <p:nvPr>
            <p:ph type="body" idx="1"/>
          </p:nvPr>
        </p:nvSpPr>
        <p:spPr>
          <a:xfrm>
            <a:off x="991750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7" name="Google Shape;437;p26"/>
          <p:cNvSpPr txBox="1">
            <a:spLocks noGrp="1"/>
          </p:cNvSpPr>
          <p:nvPr>
            <p:ph type="body" idx="2"/>
          </p:nvPr>
        </p:nvSpPr>
        <p:spPr>
          <a:xfrm>
            <a:off x="991750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8" name="Google Shape;438;p26"/>
          <p:cNvSpPr txBox="1">
            <a:spLocks noGrp="1"/>
          </p:cNvSpPr>
          <p:nvPr>
            <p:ph type="body" idx="3"/>
          </p:nvPr>
        </p:nvSpPr>
        <p:spPr>
          <a:xfrm>
            <a:off x="991750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9" name="Google Shape;439;p26"/>
          <p:cNvSpPr txBox="1">
            <a:spLocks noGrp="1"/>
          </p:cNvSpPr>
          <p:nvPr>
            <p:ph type="body" idx="4"/>
          </p:nvPr>
        </p:nvSpPr>
        <p:spPr>
          <a:xfrm>
            <a:off x="244048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0" name="Google Shape;440;p26"/>
          <p:cNvSpPr txBox="1">
            <a:spLocks noGrp="1"/>
          </p:cNvSpPr>
          <p:nvPr>
            <p:ph type="body" idx="5"/>
          </p:nvPr>
        </p:nvSpPr>
        <p:spPr>
          <a:xfrm>
            <a:off x="244048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1" name="Google Shape;441;p26"/>
          <p:cNvSpPr txBox="1">
            <a:spLocks noGrp="1"/>
          </p:cNvSpPr>
          <p:nvPr>
            <p:ph type="body" idx="6"/>
          </p:nvPr>
        </p:nvSpPr>
        <p:spPr>
          <a:xfrm>
            <a:off x="244048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2" name="Google Shape;442;p26"/>
          <p:cNvSpPr txBox="1">
            <a:spLocks noGrp="1"/>
          </p:cNvSpPr>
          <p:nvPr>
            <p:ph type="body" idx="7"/>
          </p:nvPr>
        </p:nvSpPr>
        <p:spPr>
          <a:xfrm>
            <a:off x="389229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3" name="Google Shape;443;p26"/>
          <p:cNvSpPr txBox="1">
            <a:spLocks noGrp="1"/>
          </p:cNvSpPr>
          <p:nvPr>
            <p:ph type="body" idx="8"/>
          </p:nvPr>
        </p:nvSpPr>
        <p:spPr>
          <a:xfrm>
            <a:off x="389229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4" name="Google Shape;444;p26"/>
          <p:cNvSpPr txBox="1">
            <a:spLocks noGrp="1"/>
          </p:cNvSpPr>
          <p:nvPr>
            <p:ph type="body" idx="9"/>
          </p:nvPr>
        </p:nvSpPr>
        <p:spPr>
          <a:xfrm>
            <a:off x="389229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5" name="Google Shape;445;p26"/>
          <p:cNvSpPr txBox="1">
            <a:spLocks noGrp="1"/>
          </p:cNvSpPr>
          <p:nvPr>
            <p:ph type="body" idx="13"/>
          </p:nvPr>
        </p:nvSpPr>
        <p:spPr>
          <a:xfrm>
            <a:off x="5326899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6" name="Google Shape;446;p26"/>
          <p:cNvSpPr txBox="1">
            <a:spLocks noGrp="1"/>
          </p:cNvSpPr>
          <p:nvPr>
            <p:ph type="body" idx="14"/>
          </p:nvPr>
        </p:nvSpPr>
        <p:spPr>
          <a:xfrm>
            <a:off x="5326899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7" name="Google Shape;447;p26"/>
          <p:cNvSpPr txBox="1">
            <a:spLocks noGrp="1"/>
          </p:cNvSpPr>
          <p:nvPr>
            <p:ph type="body" idx="15"/>
          </p:nvPr>
        </p:nvSpPr>
        <p:spPr>
          <a:xfrm>
            <a:off x="5326899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8" name="Google Shape;448;p26"/>
          <p:cNvSpPr txBox="1">
            <a:spLocks noGrp="1"/>
          </p:cNvSpPr>
          <p:nvPr>
            <p:ph type="body" idx="16"/>
          </p:nvPr>
        </p:nvSpPr>
        <p:spPr>
          <a:xfrm>
            <a:off x="6735161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9" name="Google Shape;449;p26"/>
          <p:cNvSpPr txBox="1">
            <a:spLocks noGrp="1"/>
          </p:cNvSpPr>
          <p:nvPr>
            <p:ph type="body" idx="17"/>
          </p:nvPr>
        </p:nvSpPr>
        <p:spPr>
          <a:xfrm>
            <a:off x="6735161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0" name="Google Shape;450;p26"/>
          <p:cNvSpPr txBox="1">
            <a:spLocks noGrp="1"/>
          </p:cNvSpPr>
          <p:nvPr>
            <p:ph type="body" idx="18"/>
          </p:nvPr>
        </p:nvSpPr>
        <p:spPr>
          <a:xfrm>
            <a:off x="6735161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1" name="Google Shape;451;p26"/>
          <p:cNvSpPr txBox="1">
            <a:spLocks noGrp="1"/>
          </p:cNvSpPr>
          <p:nvPr>
            <p:ph type="body" idx="19"/>
          </p:nvPr>
        </p:nvSpPr>
        <p:spPr>
          <a:xfrm>
            <a:off x="904066" y="3531649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2" name="Google Shape;452;p26"/>
          <p:cNvSpPr txBox="1">
            <a:spLocks noGrp="1"/>
          </p:cNvSpPr>
          <p:nvPr>
            <p:ph type="body" idx="20"/>
          </p:nvPr>
        </p:nvSpPr>
        <p:spPr>
          <a:xfrm>
            <a:off x="2352802" y="3531649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3" name="Google Shape;453;p26"/>
          <p:cNvSpPr txBox="1">
            <a:spLocks noGrp="1"/>
          </p:cNvSpPr>
          <p:nvPr>
            <p:ph type="body" idx="21"/>
          </p:nvPr>
        </p:nvSpPr>
        <p:spPr>
          <a:xfrm>
            <a:off x="3829621" y="3531648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4" name="Google Shape;454;p26"/>
          <p:cNvSpPr txBox="1">
            <a:spLocks noGrp="1"/>
          </p:cNvSpPr>
          <p:nvPr>
            <p:ph type="body" idx="22"/>
          </p:nvPr>
        </p:nvSpPr>
        <p:spPr>
          <a:xfrm>
            <a:off x="5306440" y="3531648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5" name="Google Shape;455;p26"/>
          <p:cNvSpPr txBox="1">
            <a:spLocks noGrp="1"/>
          </p:cNvSpPr>
          <p:nvPr>
            <p:ph type="body" idx="23"/>
          </p:nvPr>
        </p:nvSpPr>
        <p:spPr>
          <a:xfrm>
            <a:off x="6755176" y="3531647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56" name="Google Shape;45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59" name="Google Shape;45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">
  <p:cSld name="Title and Doughnut Chart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33A9099-DAEF-4C77-B000-3FE764D1F2F0}" type="datetime1">
              <a:rPr lang="en-US" smtClean="0"/>
              <a:t>7/28/2025</a:t>
            </a:fld>
            <a:endParaRPr/>
          </a:p>
        </p:txBody>
      </p:sp>
      <p:sp>
        <p:nvSpPr>
          <p:cNvPr id="462" name="Google Shape;462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3" name="Google Shape;463;p2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5" name="Google Shape;46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ne Chart">
  <p:cSld name="Title and Line Char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F88BB4D-9E0D-492A-A690-9B7505D085B6}" type="datetime1">
              <a:rPr lang="en-US" smtClean="0"/>
              <a:t>7/28/2025</a:t>
            </a:fld>
            <a:endParaRPr/>
          </a:p>
        </p:txBody>
      </p:sp>
      <p:sp>
        <p:nvSpPr>
          <p:cNvPr id="468" name="Google Shape;46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9" name="Google Shape;469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0" name="Google Shape;470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630238" y="1600199"/>
            <a:ext cx="3182128" cy="3006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3" name="Google Shape;473;p28"/>
          <p:cNvSpPr txBox="1">
            <a:spLocks noGrp="1"/>
          </p:cNvSpPr>
          <p:nvPr>
            <p:ph type="body" idx="2"/>
          </p:nvPr>
        </p:nvSpPr>
        <p:spPr>
          <a:xfrm>
            <a:off x="5306779" y="3059187"/>
            <a:ext cx="671653" cy="3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4" name="Google Shape;474;p28"/>
          <p:cNvSpPr txBox="1">
            <a:spLocks noGrp="1"/>
          </p:cNvSpPr>
          <p:nvPr>
            <p:ph type="body" idx="3"/>
          </p:nvPr>
        </p:nvSpPr>
        <p:spPr>
          <a:xfrm>
            <a:off x="6894111" y="3052728"/>
            <a:ext cx="671653" cy="32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5" name="Google Shape;475;p28"/>
          <p:cNvSpPr txBox="1">
            <a:spLocks noGrp="1"/>
          </p:cNvSpPr>
          <p:nvPr>
            <p:ph type="body" idx="4"/>
          </p:nvPr>
        </p:nvSpPr>
        <p:spPr>
          <a:xfrm>
            <a:off x="5306778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6" name="Google Shape;476;p28"/>
          <p:cNvSpPr txBox="1">
            <a:spLocks noGrp="1"/>
          </p:cNvSpPr>
          <p:nvPr>
            <p:ph type="body" idx="5"/>
          </p:nvPr>
        </p:nvSpPr>
        <p:spPr>
          <a:xfrm>
            <a:off x="5299344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7" name="Google Shape;477;p28"/>
          <p:cNvSpPr txBox="1">
            <a:spLocks noGrp="1"/>
          </p:cNvSpPr>
          <p:nvPr>
            <p:ph type="body" idx="6"/>
          </p:nvPr>
        </p:nvSpPr>
        <p:spPr>
          <a:xfrm>
            <a:off x="6890089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8" name="Google Shape;478;p28"/>
          <p:cNvSpPr txBox="1">
            <a:spLocks noGrp="1"/>
          </p:cNvSpPr>
          <p:nvPr>
            <p:ph type="body" idx="7"/>
          </p:nvPr>
        </p:nvSpPr>
        <p:spPr>
          <a:xfrm>
            <a:off x="6882655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9" name="Google Shape;479;p28"/>
          <p:cNvSpPr>
            <a:spLocks noGrp="1"/>
          </p:cNvSpPr>
          <p:nvPr>
            <p:ph type="chart" idx="8"/>
          </p:nvPr>
        </p:nvSpPr>
        <p:spPr>
          <a:xfrm>
            <a:off x="5295900" y="1600200"/>
            <a:ext cx="32258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1" name="Google Shape;48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8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5" name="Google Shape;48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2754">
          <p15:clr>
            <a:srgbClr val="FBAE40"/>
          </p15:clr>
        </p15:guide>
        <p15:guide id="4" pos="240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 2">
  <p:cSld name="Title and Doughnut Chart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4DB09AB-7400-460E-8C36-8780F8F84769}" type="datetime1">
              <a:rPr lang="en-US" smtClean="0"/>
              <a:t>7/28/2025</a:t>
            </a:fld>
            <a:endParaRPr/>
          </a:p>
        </p:txBody>
      </p:sp>
      <p:sp>
        <p:nvSpPr>
          <p:cNvPr id="488" name="Google Shape;488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89" name="Google Shape;48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9"/>
          <p:cNvSpPr txBox="1">
            <a:spLocks noGrp="1"/>
          </p:cNvSpPr>
          <p:nvPr>
            <p:ph type="body" idx="1"/>
          </p:nvPr>
        </p:nvSpPr>
        <p:spPr>
          <a:xfrm>
            <a:off x="2286696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3" name="Google Shape;493;p29"/>
          <p:cNvSpPr txBox="1">
            <a:spLocks noGrp="1"/>
          </p:cNvSpPr>
          <p:nvPr>
            <p:ph type="body" idx="2"/>
          </p:nvPr>
        </p:nvSpPr>
        <p:spPr>
          <a:xfrm>
            <a:off x="2286696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4" name="Google Shape;494;p29"/>
          <p:cNvSpPr txBox="1">
            <a:spLocks noGrp="1"/>
          </p:cNvSpPr>
          <p:nvPr>
            <p:ph type="body" idx="3"/>
          </p:nvPr>
        </p:nvSpPr>
        <p:spPr>
          <a:xfrm>
            <a:off x="4973335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5" name="Google Shape;495;p29"/>
          <p:cNvSpPr txBox="1">
            <a:spLocks noGrp="1"/>
          </p:cNvSpPr>
          <p:nvPr>
            <p:ph type="body" idx="4"/>
          </p:nvPr>
        </p:nvSpPr>
        <p:spPr>
          <a:xfrm>
            <a:off x="4973335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96" name="Google Shape;49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9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9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01" name="Google Shape;501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hic">
  <p:cSld name="Title and Infograhic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920013A-1A08-4039-9F4D-72DCFA95E182}" type="datetime1">
              <a:rPr lang="en-US" smtClean="0"/>
              <a:t>7/28/2025</a:t>
            </a:fld>
            <a:endParaRPr/>
          </a:p>
        </p:txBody>
      </p:sp>
      <p:sp>
        <p:nvSpPr>
          <p:cNvPr id="504" name="Google Shape;504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05" name="Google Shape;50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0"/>
          <p:cNvSpPr txBox="1">
            <a:spLocks noGrp="1"/>
          </p:cNvSpPr>
          <p:nvPr>
            <p:ph type="body" idx="1"/>
          </p:nvPr>
        </p:nvSpPr>
        <p:spPr>
          <a:xfrm>
            <a:off x="1263041" y="2104600"/>
            <a:ext cx="830454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8" name="Google Shape;508;p30"/>
          <p:cNvSpPr txBox="1">
            <a:spLocks noGrp="1"/>
          </p:cNvSpPr>
          <p:nvPr>
            <p:ph type="body" idx="2"/>
          </p:nvPr>
        </p:nvSpPr>
        <p:spPr>
          <a:xfrm>
            <a:off x="2470356" y="3778988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9" name="Google Shape;509;p30"/>
          <p:cNvSpPr txBox="1">
            <a:spLocks noGrp="1"/>
          </p:cNvSpPr>
          <p:nvPr>
            <p:ph type="body" idx="3"/>
          </p:nvPr>
        </p:nvSpPr>
        <p:spPr>
          <a:xfrm>
            <a:off x="3530790" y="2108961"/>
            <a:ext cx="824532" cy="287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0" name="Google Shape;510;p30"/>
          <p:cNvSpPr txBox="1">
            <a:spLocks noGrp="1"/>
          </p:cNvSpPr>
          <p:nvPr>
            <p:ph type="body" idx="4"/>
          </p:nvPr>
        </p:nvSpPr>
        <p:spPr>
          <a:xfrm>
            <a:off x="4729642" y="3771033"/>
            <a:ext cx="745627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1" name="Google Shape;511;p30"/>
          <p:cNvSpPr txBox="1">
            <a:spLocks noGrp="1"/>
          </p:cNvSpPr>
          <p:nvPr>
            <p:ph type="body" idx="5"/>
          </p:nvPr>
        </p:nvSpPr>
        <p:spPr>
          <a:xfrm>
            <a:off x="5904099" y="2107682"/>
            <a:ext cx="758842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2" name="Google Shape;512;p30"/>
          <p:cNvSpPr txBox="1">
            <a:spLocks noGrp="1"/>
          </p:cNvSpPr>
          <p:nvPr>
            <p:ph type="body" idx="6"/>
          </p:nvPr>
        </p:nvSpPr>
        <p:spPr>
          <a:xfrm>
            <a:off x="7023857" y="3762859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3" name="Google Shape;513;p30"/>
          <p:cNvSpPr txBox="1">
            <a:spLocks noGrp="1"/>
          </p:cNvSpPr>
          <p:nvPr>
            <p:ph type="body" idx="7"/>
          </p:nvPr>
        </p:nvSpPr>
        <p:spPr>
          <a:xfrm>
            <a:off x="2156171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4" name="Google Shape;514;p30"/>
          <p:cNvSpPr txBox="1">
            <a:spLocks noGrp="1"/>
          </p:cNvSpPr>
          <p:nvPr>
            <p:ph type="body" idx="8"/>
          </p:nvPr>
        </p:nvSpPr>
        <p:spPr>
          <a:xfrm>
            <a:off x="2156171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5" name="Google Shape;515;p30"/>
          <p:cNvSpPr txBox="1">
            <a:spLocks noGrp="1"/>
          </p:cNvSpPr>
          <p:nvPr>
            <p:ph type="body" idx="9"/>
          </p:nvPr>
        </p:nvSpPr>
        <p:spPr>
          <a:xfrm>
            <a:off x="4513908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6" name="Google Shape;516;p30"/>
          <p:cNvSpPr txBox="1">
            <a:spLocks noGrp="1"/>
          </p:cNvSpPr>
          <p:nvPr>
            <p:ph type="body" idx="13"/>
          </p:nvPr>
        </p:nvSpPr>
        <p:spPr>
          <a:xfrm>
            <a:off x="4513908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7" name="Google Shape;517;p30"/>
          <p:cNvSpPr txBox="1">
            <a:spLocks noGrp="1"/>
          </p:cNvSpPr>
          <p:nvPr>
            <p:ph type="body" idx="14"/>
          </p:nvPr>
        </p:nvSpPr>
        <p:spPr>
          <a:xfrm>
            <a:off x="6720777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8" name="Google Shape;518;p30"/>
          <p:cNvSpPr txBox="1">
            <a:spLocks noGrp="1"/>
          </p:cNvSpPr>
          <p:nvPr>
            <p:ph type="body" idx="15"/>
          </p:nvPr>
        </p:nvSpPr>
        <p:spPr>
          <a:xfrm>
            <a:off x="6720777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9" name="Google Shape;519;p30"/>
          <p:cNvSpPr txBox="1">
            <a:spLocks noGrp="1"/>
          </p:cNvSpPr>
          <p:nvPr>
            <p:ph type="body" idx="16"/>
          </p:nvPr>
        </p:nvSpPr>
        <p:spPr>
          <a:xfrm>
            <a:off x="995265" y="3791876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0" name="Google Shape;520;p30"/>
          <p:cNvSpPr txBox="1">
            <a:spLocks noGrp="1"/>
          </p:cNvSpPr>
          <p:nvPr>
            <p:ph type="body" idx="17"/>
          </p:nvPr>
        </p:nvSpPr>
        <p:spPr>
          <a:xfrm>
            <a:off x="995265" y="405754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1" name="Google Shape;521;p30"/>
          <p:cNvSpPr txBox="1">
            <a:spLocks noGrp="1"/>
          </p:cNvSpPr>
          <p:nvPr>
            <p:ph type="body" idx="18"/>
          </p:nvPr>
        </p:nvSpPr>
        <p:spPr>
          <a:xfrm>
            <a:off x="3326285" y="377969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2" name="Google Shape;522;p30"/>
          <p:cNvSpPr txBox="1">
            <a:spLocks noGrp="1"/>
          </p:cNvSpPr>
          <p:nvPr>
            <p:ph type="body" idx="19"/>
          </p:nvPr>
        </p:nvSpPr>
        <p:spPr>
          <a:xfrm>
            <a:off x="3326285" y="404535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3" name="Google Shape;523;p30"/>
          <p:cNvSpPr txBox="1">
            <a:spLocks noGrp="1"/>
          </p:cNvSpPr>
          <p:nvPr>
            <p:ph type="body" idx="20"/>
          </p:nvPr>
        </p:nvSpPr>
        <p:spPr>
          <a:xfrm>
            <a:off x="5599996" y="375897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4" name="Google Shape;524;p30"/>
          <p:cNvSpPr txBox="1">
            <a:spLocks noGrp="1"/>
          </p:cNvSpPr>
          <p:nvPr>
            <p:ph type="body" idx="21"/>
          </p:nvPr>
        </p:nvSpPr>
        <p:spPr>
          <a:xfrm>
            <a:off x="5599996" y="4024639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25" name="Google Shape;52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0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0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29" name="Google Shape;52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2">
  <p:cSld name="Title and Infographic 2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AF661EE-D0B0-4A88-A3DF-5A00DBEE5733}" type="datetime1">
              <a:rPr lang="en-US" smtClean="0"/>
              <a:t>7/28/2025</a:t>
            </a:fld>
            <a:endParaRPr/>
          </a:p>
        </p:txBody>
      </p:sp>
      <p:sp>
        <p:nvSpPr>
          <p:cNvPr id="532" name="Google Shape;532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33" name="Google Shape;533;p31" descr="C:\Users\diyajoseph\Desktop\New folder (3)\Infographics-01-0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49184" y="1331625"/>
            <a:ext cx="3644856" cy="364485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1"/>
          <p:cNvSpPr txBox="1">
            <a:spLocks noGrp="1"/>
          </p:cNvSpPr>
          <p:nvPr>
            <p:ph type="body" idx="1"/>
          </p:nvPr>
        </p:nvSpPr>
        <p:spPr>
          <a:xfrm>
            <a:off x="630238" y="1347788"/>
            <a:ext cx="3182128" cy="277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5" name="Google Shape;535;p31"/>
          <p:cNvSpPr txBox="1">
            <a:spLocks noGrp="1"/>
          </p:cNvSpPr>
          <p:nvPr>
            <p:ph type="body" idx="2"/>
          </p:nvPr>
        </p:nvSpPr>
        <p:spPr>
          <a:xfrm>
            <a:off x="6433953" y="172210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6" name="Google Shape;536;p31"/>
          <p:cNvSpPr txBox="1">
            <a:spLocks noGrp="1"/>
          </p:cNvSpPr>
          <p:nvPr>
            <p:ph type="body" idx="3"/>
          </p:nvPr>
        </p:nvSpPr>
        <p:spPr>
          <a:xfrm>
            <a:off x="6433953" y="198777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7" name="Google Shape;537;p31"/>
          <p:cNvSpPr txBox="1">
            <a:spLocks noGrp="1"/>
          </p:cNvSpPr>
          <p:nvPr>
            <p:ph type="body" idx="4"/>
          </p:nvPr>
        </p:nvSpPr>
        <p:spPr>
          <a:xfrm>
            <a:off x="4628562" y="3026158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8" name="Google Shape;538;p31"/>
          <p:cNvSpPr txBox="1">
            <a:spLocks noGrp="1"/>
          </p:cNvSpPr>
          <p:nvPr>
            <p:ph type="body" idx="5"/>
          </p:nvPr>
        </p:nvSpPr>
        <p:spPr>
          <a:xfrm>
            <a:off x="7003447" y="278373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9" name="Google Shape;539;p31"/>
          <p:cNvSpPr txBox="1">
            <a:spLocks noGrp="1"/>
          </p:cNvSpPr>
          <p:nvPr>
            <p:ph type="body" idx="6"/>
          </p:nvPr>
        </p:nvSpPr>
        <p:spPr>
          <a:xfrm>
            <a:off x="7009593" y="3303767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0" name="Google Shape;540;p31"/>
          <p:cNvSpPr txBox="1">
            <a:spLocks noGrp="1"/>
          </p:cNvSpPr>
          <p:nvPr>
            <p:ph type="body" idx="7"/>
          </p:nvPr>
        </p:nvSpPr>
        <p:spPr>
          <a:xfrm>
            <a:off x="7009593" y="356943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1" name="Google Shape;541;p31"/>
          <p:cNvSpPr txBox="1">
            <a:spLocks noGrp="1"/>
          </p:cNvSpPr>
          <p:nvPr>
            <p:ph type="body" idx="8"/>
          </p:nvPr>
        </p:nvSpPr>
        <p:spPr>
          <a:xfrm>
            <a:off x="6433953" y="403431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2" name="Google Shape;542;p31"/>
          <p:cNvSpPr txBox="1">
            <a:spLocks noGrp="1"/>
          </p:cNvSpPr>
          <p:nvPr>
            <p:ph type="body" idx="9"/>
          </p:nvPr>
        </p:nvSpPr>
        <p:spPr>
          <a:xfrm>
            <a:off x="6433953" y="429997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3" name="Google Shape;543;p31"/>
          <p:cNvSpPr txBox="1">
            <a:spLocks noGrp="1"/>
          </p:cNvSpPr>
          <p:nvPr>
            <p:ph type="body" idx="13"/>
          </p:nvPr>
        </p:nvSpPr>
        <p:spPr>
          <a:xfrm>
            <a:off x="7001132" y="252495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4" name="Google Shape;544;p31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849">
          <p15:clr>
            <a:srgbClr val="FBAE40"/>
          </p15:clr>
        </p15:guide>
        <p15:guide id="3" orient="horz" pos="2663">
          <p15:clr>
            <a:srgbClr val="FBAE40"/>
          </p15:clr>
        </p15:guide>
        <p15:guide id="4" pos="25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3">
  <p:cSld name="Title and Infographic 3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834440C-C202-47C8-A947-BD42748A4E21}" type="datetime1">
              <a:rPr lang="en-US" smtClean="0"/>
              <a:t>7/28/2025</a:t>
            </a:fld>
            <a:endParaRPr/>
          </a:p>
        </p:txBody>
      </p:sp>
      <p:sp>
        <p:nvSpPr>
          <p:cNvPr id="548" name="Google Shape;548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49" name="Google Shape;549;p32"/>
          <p:cNvSpPr txBox="1">
            <a:spLocks noGrp="1"/>
          </p:cNvSpPr>
          <p:nvPr>
            <p:ph type="body" idx="1"/>
          </p:nvPr>
        </p:nvSpPr>
        <p:spPr>
          <a:xfrm>
            <a:off x="2184783" y="1316876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0" name="Google Shape;550;p32"/>
          <p:cNvSpPr txBox="1">
            <a:spLocks noGrp="1"/>
          </p:cNvSpPr>
          <p:nvPr>
            <p:ph type="body" idx="2"/>
          </p:nvPr>
        </p:nvSpPr>
        <p:spPr>
          <a:xfrm>
            <a:off x="2184783" y="1496505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1" name="Google Shape;551;p32"/>
          <p:cNvSpPr txBox="1">
            <a:spLocks noGrp="1"/>
          </p:cNvSpPr>
          <p:nvPr>
            <p:ph type="body" idx="3"/>
          </p:nvPr>
        </p:nvSpPr>
        <p:spPr>
          <a:xfrm>
            <a:off x="2184783" y="1708544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2" name="Google Shape;552;p32"/>
          <p:cNvSpPr txBox="1">
            <a:spLocks noGrp="1"/>
          </p:cNvSpPr>
          <p:nvPr>
            <p:ph type="body" idx="4"/>
          </p:nvPr>
        </p:nvSpPr>
        <p:spPr>
          <a:xfrm>
            <a:off x="1648313" y="216053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3" name="Google Shape;553;p32"/>
          <p:cNvSpPr txBox="1">
            <a:spLocks noGrp="1"/>
          </p:cNvSpPr>
          <p:nvPr>
            <p:ph type="body" idx="5"/>
          </p:nvPr>
        </p:nvSpPr>
        <p:spPr>
          <a:xfrm>
            <a:off x="1648313" y="234016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4" name="Google Shape;554;p32"/>
          <p:cNvSpPr txBox="1">
            <a:spLocks noGrp="1"/>
          </p:cNvSpPr>
          <p:nvPr>
            <p:ph type="body" idx="6"/>
          </p:nvPr>
        </p:nvSpPr>
        <p:spPr>
          <a:xfrm>
            <a:off x="1648313" y="255220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5" name="Google Shape;555;p32"/>
          <p:cNvSpPr txBox="1">
            <a:spLocks noGrp="1"/>
          </p:cNvSpPr>
          <p:nvPr>
            <p:ph type="body" idx="7"/>
          </p:nvPr>
        </p:nvSpPr>
        <p:spPr>
          <a:xfrm>
            <a:off x="1670695" y="3113991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6" name="Google Shape;556;p32"/>
          <p:cNvSpPr txBox="1">
            <a:spLocks noGrp="1"/>
          </p:cNvSpPr>
          <p:nvPr>
            <p:ph type="body" idx="8"/>
          </p:nvPr>
        </p:nvSpPr>
        <p:spPr>
          <a:xfrm>
            <a:off x="1670695" y="3293620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7" name="Google Shape;557;p32"/>
          <p:cNvSpPr txBox="1">
            <a:spLocks noGrp="1"/>
          </p:cNvSpPr>
          <p:nvPr>
            <p:ph type="body" idx="9"/>
          </p:nvPr>
        </p:nvSpPr>
        <p:spPr>
          <a:xfrm>
            <a:off x="1670695" y="3505659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8" name="Google Shape;558;p32"/>
          <p:cNvSpPr txBox="1">
            <a:spLocks noGrp="1"/>
          </p:cNvSpPr>
          <p:nvPr>
            <p:ph type="body" idx="13"/>
          </p:nvPr>
        </p:nvSpPr>
        <p:spPr>
          <a:xfrm>
            <a:off x="2154251" y="3833167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9" name="Google Shape;559;p32"/>
          <p:cNvSpPr txBox="1">
            <a:spLocks noGrp="1"/>
          </p:cNvSpPr>
          <p:nvPr>
            <p:ph type="body" idx="14"/>
          </p:nvPr>
        </p:nvSpPr>
        <p:spPr>
          <a:xfrm>
            <a:off x="2154251" y="4012796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0" name="Google Shape;560;p32"/>
          <p:cNvSpPr txBox="1">
            <a:spLocks noGrp="1"/>
          </p:cNvSpPr>
          <p:nvPr>
            <p:ph type="body" idx="15"/>
          </p:nvPr>
        </p:nvSpPr>
        <p:spPr>
          <a:xfrm>
            <a:off x="2154251" y="4224835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1" name="Google Shape;561;p32"/>
          <p:cNvSpPr txBox="1">
            <a:spLocks noGrp="1"/>
          </p:cNvSpPr>
          <p:nvPr>
            <p:ph type="body" idx="16"/>
          </p:nvPr>
        </p:nvSpPr>
        <p:spPr>
          <a:xfrm>
            <a:off x="5711844" y="127468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2" name="Google Shape;562;p32"/>
          <p:cNvSpPr txBox="1">
            <a:spLocks noGrp="1"/>
          </p:cNvSpPr>
          <p:nvPr>
            <p:ph type="body" idx="17"/>
          </p:nvPr>
        </p:nvSpPr>
        <p:spPr>
          <a:xfrm>
            <a:off x="5711844" y="145431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3" name="Google Shape;563;p32"/>
          <p:cNvSpPr txBox="1">
            <a:spLocks noGrp="1"/>
          </p:cNvSpPr>
          <p:nvPr>
            <p:ph type="body" idx="18"/>
          </p:nvPr>
        </p:nvSpPr>
        <p:spPr>
          <a:xfrm>
            <a:off x="5711844" y="166635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4" name="Google Shape;564;p32"/>
          <p:cNvSpPr txBox="1">
            <a:spLocks noGrp="1"/>
          </p:cNvSpPr>
          <p:nvPr>
            <p:ph type="body" idx="19"/>
          </p:nvPr>
        </p:nvSpPr>
        <p:spPr>
          <a:xfrm>
            <a:off x="6247590" y="2081713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5" name="Google Shape;565;p32"/>
          <p:cNvSpPr txBox="1">
            <a:spLocks noGrp="1"/>
          </p:cNvSpPr>
          <p:nvPr>
            <p:ph type="body" idx="20"/>
          </p:nvPr>
        </p:nvSpPr>
        <p:spPr>
          <a:xfrm>
            <a:off x="6247590" y="2261342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6" name="Google Shape;566;p32"/>
          <p:cNvSpPr txBox="1">
            <a:spLocks noGrp="1"/>
          </p:cNvSpPr>
          <p:nvPr>
            <p:ph type="body" idx="21"/>
          </p:nvPr>
        </p:nvSpPr>
        <p:spPr>
          <a:xfrm>
            <a:off x="6247590" y="2473381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7" name="Google Shape;567;p32"/>
          <p:cNvSpPr txBox="1">
            <a:spLocks noGrp="1"/>
          </p:cNvSpPr>
          <p:nvPr>
            <p:ph type="body" idx="22"/>
          </p:nvPr>
        </p:nvSpPr>
        <p:spPr>
          <a:xfrm>
            <a:off x="6247590" y="3009669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8" name="Google Shape;568;p32"/>
          <p:cNvSpPr txBox="1">
            <a:spLocks noGrp="1"/>
          </p:cNvSpPr>
          <p:nvPr>
            <p:ph type="body" idx="23"/>
          </p:nvPr>
        </p:nvSpPr>
        <p:spPr>
          <a:xfrm>
            <a:off x="6247590" y="3189298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9" name="Google Shape;569;p32"/>
          <p:cNvSpPr txBox="1">
            <a:spLocks noGrp="1"/>
          </p:cNvSpPr>
          <p:nvPr>
            <p:ph type="body" idx="24"/>
          </p:nvPr>
        </p:nvSpPr>
        <p:spPr>
          <a:xfrm>
            <a:off x="6247590" y="3401337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0" name="Google Shape;570;p32"/>
          <p:cNvSpPr txBox="1">
            <a:spLocks noGrp="1"/>
          </p:cNvSpPr>
          <p:nvPr>
            <p:ph type="body" idx="25"/>
          </p:nvPr>
        </p:nvSpPr>
        <p:spPr>
          <a:xfrm>
            <a:off x="5911033" y="3827718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1" name="Google Shape;571;p32"/>
          <p:cNvSpPr txBox="1">
            <a:spLocks noGrp="1"/>
          </p:cNvSpPr>
          <p:nvPr>
            <p:ph type="body" idx="26"/>
          </p:nvPr>
        </p:nvSpPr>
        <p:spPr>
          <a:xfrm>
            <a:off x="5911033" y="4007347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2" name="Google Shape;572;p32"/>
          <p:cNvSpPr txBox="1">
            <a:spLocks noGrp="1"/>
          </p:cNvSpPr>
          <p:nvPr>
            <p:ph type="body" idx="27"/>
          </p:nvPr>
        </p:nvSpPr>
        <p:spPr>
          <a:xfrm>
            <a:off x="5911033" y="4219386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573" name="Google Shape;573;p32"/>
          <p:cNvGrpSpPr/>
          <p:nvPr/>
        </p:nvGrpSpPr>
        <p:grpSpPr>
          <a:xfrm>
            <a:off x="3064089" y="1322496"/>
            <a:ext cx="3130304" cy="3130304"/>
            <a:chOff x="1725851" y="197234"/>
            <a:chExt cx="4799362" cy="4799363"/>
          </a:xfrm>
        </p:grpSpPr>
        <p:sp>
          <p:nvSpPr>
            <p:cNvPr id="574" name="Google Shape;574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3500000"/>
                <a:gd name="adj2" fmla="val 162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0800000"/>
                <a:gd name="adj2" fmla="val 13500000"/>
                <a:gd name="adj3" fmla="val 3430"/>
              </a:avLst>
            </a:pr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8100000"/>
                <a:gd name="adj2" fmla="val 10800000"/>
                <a:gd name="adj3" fmla="val 343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5400000"/>
                <a:gd name="adj2" fmla="val 8100000"/>
                <a:gd name="adj3" fmla="val 3430"/>
              </a:avLst>
            </a:prstGeom>
            <a:solidFill>
              <a:srgbClr val="B4B4B4"/>
            </a:solidFill>
            <a:ln w="9525" cap="flat" cmpd="sng">
              <a:solidFill>
                <a:srgbClr val="A8A8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2700000"/>
                <a:gd name="adj2" fmla="val 54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0"/>
                <a:gd name="adj2" fmla="val 27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8900000"/>
                <a:gd name="adj2" fmla="val 0"/>
                <a:gd name="adj3" fmla="val 343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6200000"/>
                <a:gd name="adj2" fmla="val 189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3128723" y="1600108"/>
              <a:ext cx="1993614" cy="1993614"/>
            </a:xfrm>
            <a:custGeom>
              <a:avLst/>
              <a:gdLst/>
              <a:ahLst/>
              <a:cxnLst/>
              <a:rect l="l" t="t" r="r" b="b"/>
              <a:pathLst>
                <a:path w="1993614" h="1993614" extrusionOk="0">
                  <a:moveTo>
                    <a:pt x="0" y="996807"/>
                  </a:moveTo>
                  <a:cubicBezTo>
                    <a:pt x="0" y="446286"/>
                    <a:pt x="446286" y="0"/>
                    <a:pt x="996807" y="0"/>
                  </a:cubicBezTo>
                  <a:cubicBezTo>
                    <a:pt x="1547328" y="0"/>
                    <a:pt x="1993614" y="446286"/>
                    <a:pt x="1993614" y="996807"/>
                  </a:cubicBezTo>
                  <a:cubicBezTo>
                    <a:pt x="1993614" y="1547328"/>
                    <a:pt x="1547328" y="1993614"/>
                    <a:pt x="996807" y="1993614"/>
                  </a:cubicBezTo>
                  <a:cubicBezTo>
                    <a:pt x="446286" y="1993614"/>
                    <a:pt x="0" y="1547328"/>
                    <a:pt x="0" y="996807"/>
                  </a:cubicBezTo>
                  <a:close/>
                </a:path>
              </a:pathLst>
            </a:custGeom>
            <a:noFill/>
            <a:ln w="50800" cap="flat" cmpd="sng">
              <a:solidFill>
                <a:srgbClr val="4C4C4C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8100000" algn="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307175" tIns="307175" rIns="307175" bIns="3071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4C4C4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3657379" y="19723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5023178" y="762966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CCCC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558891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5023177" y="3494562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9D9D9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3657379" y="406029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2291582" y="34945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A8A8A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172585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2291581" y="76296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98989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1" name="Google Shape;59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6518" y="157277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122" y="384071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5784" y="3229619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0129" y="2284117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71063" y="1518775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06880" y="2182634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41355" y="3145032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14639" y="3877794"/>
            <a:ext cx="365816" cy="36581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2"/>
          <p:cNvSpPr txBox="1">
            <a:spLocks noGrp="1"/>
          </p:cNvSpPr>
          <p:nvPr>
            <p:ph type="body" idx="28"/>
          </p:nvPr>
        </p:nvSpPr>
        <p:spPr>
          <a:xfrm>
            <a:off x="4052675" y="2723156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0" name="Google Shape;600;p32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2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2" name="Google Shape;602;p3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2B26089-2F1F-48C6-9FCB-323E82F0B2E3}" type="datetime1">
              <a:rPr lang="en-US" smtClean="0"/>
              <a:t>7/28/2025</a:t>
            </a:fld>
            <a:endParaRPr/>
          </a:p>
        </p:txBody>
      </p:sp>
      <p:sp>
        <p:nvSpPr>
          <p:cNvPr id="605" name="Google Shape;605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06" name="Google Shape;606;p33"/>
          <p:cNvSpPr txBox="1">
            <a:spLocks noGrp="1"/>
          </p:cNvSpPr>
          <p:nvPr>
            <p:ph type="body" idx="1"/>
          </p:nvPr>
        </p:nvSpPr>
        <p:spPr>
          <a:xfrm>
            <a:off x="630238" y="1455738"/>
            <a:ext cx="2933700" cy="30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7" name="Google Shape;607;p33"/>
          <p:cNvSpPr>
            <a:spLocks noGrp="1"/>
          </p:cNvSpPr>
          <p:nvPr>
            <p:ph type="chart" idx="2"/>
          </p:nvPr>
        </p:nvSpPr>
        <p:spPr>
          <a:xfrm>
            <a:off x="3676650" y="1466850"/>
            <a:ext cx="484505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8" name="Google Shape;608;p33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3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10" name="Google Shape;61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pos="2245">
          <p15:clr>
            <a:srgbClr val="FBAE40"/>
          </p15:clr>
        </p15:guide>
        <p15:guide id="3" orient="horz" pos="917">
          <p15:clr>
            <a:srgbClr val="FBAE40"/>
          </p15:clr>
        </p15:guide>
        <p15:guide id="4" orient="horz" pos="2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30238" y="544498"/>
            <a:ext cx="6196824" cy="56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6CD11C40-2877-4EA8-9F65-EF49FC119239}" type="datetime1">
              <a:rPr lang="en-US" smtClean="0"/>
              <a:t>7/28/2025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929762" y="209484"/>
            <a:ext cx="814046" cy="21721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398">
          <p15:clr>
            <a:srgbClr val="F26B43"/>
          </p15:clr>
        </p15:guide>
        <p15:guide id="2" orient="horz" pos="191">
          <p15:clr>
            <a:srgbClr val="F26B43"/>
          </p15:clr>
        </p15:guide>
        <p15:guide id="3" orient="horz" pos="344">
          <p15:clr>
            <a:srgbClr val="F26B43"/>
          </p15:clr>
        </p15:guide>
        <p15:guide id="4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4"/>
          <p:cNvSpPr txBox="1"/>
          <p:nvPr/>
        </p:nvSpPr>
        <p:spPr>
          <a:xfrm>
            <a:off x="555037" y="2114911"/>
            <a:ext cx="6895272" cy="117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r>
              <a:rPr lang="en-IN" sz="4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LJMU </a:t>
            </a:r>
            <a:endParaRPr sz="400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6" name="Google Shape;61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370" y="0"/>
            <a:ext cx="1356542" cy="15774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686F35-02BE-4397-1649-D12BCA8552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51FAFB1-EF64-474A-B02D-35256142AA3F}" type="datetime1">
              <a:rPr lang="en-US" smtClean="0"/>
              <a:t>7/28/2025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698" b="7697"/>
          <a:stretch/>
        </p:blipFill>
        <p:spPr>
          <a:xfrm>
            <a:off x="0" y="-1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575" y="0"/>
            <a:ext cx="3811975" cy="4634524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5"/>
          <p:cNvSpPr txBox="1"/>
          <p:nvPr/>
        </p:nvSpPr>
        <p:spPr>
          <a:xfrm>
            <a:off x="623062" y="1077312"/>
            <a:ext cx="3573000" cy="11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SzPts val="1800"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Live Session </a:t>
            </a:r>
            <a:r>
              <a:rPr lang="en-IN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On :</a:t>
            </a:r>
            <a:r>
              <a:rPr lang="en-IN" sz="180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Good Research Comes with Good Literature Review How to read a Paper </a:t>
            </a:r>
            <a:r>
              <a:rPr lang="en-US" sz="18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effectivelly</a:t>
            </a:r>
            <a:r>
              <a:rPr lang="en-US" sz="18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and tips on How to summarize Findings from Research</a:t>
            </a:r>
          </a:p>
          <a:p>
            <a:pPr lvl="0" algn="ctr">
              <a:lnSpc>
                <a:spcPct val="90000"/>
              </a:lnSpc>
              <a:buSzPts val="1800"/>
            </a:pPr>
            <a:r>
              <a:rPr lang="en-IN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Instructor :</a:t>
            </a:r>
            <a:r>
              <a:rPr lang="en-IN" sz="1800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N" sz="18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 Ishu Sharma</a:t>
            </a:r>
            <a:endParaRPr sz="1800" i="0" u="none" strike="noStrike" cap="none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27" name="Google Shape;627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6C3540-8AF6-2560-F433-F8AF932A49E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09FE7CD-8B65-4A08-BA46-2B320862B8CC}" type="datetime1">
              <a:rPr lang="en-US" smtClean="0"/>
              <a:t>7/28/2025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9"/>
          <p:cNvSpPr txBox="1"/>
          <p:nvPr/>
        </p:nvSpPr>
        <p:spPr>
          <a:xfrm>
            <a:off x="738187" y="281420"/>
            <a:ext cx="443241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Today’s Agenda</a:t>
            </a:r>
            <a:endParaRPr sz="2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/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9"/>
          <p:cNvSpPr txBox="1"/>
          <p:nvPr/>
        </p:nvSpPr>
        <p:spPr>
          <a:xfrm>
            <a:off x="1126962" y="2371267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07259-1A27-919C-6DC5-48B13C5B1E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58E5740-986F-4681-9C35-9D492B306480}" type="datetime1">
              <a:rPr lang="en-US" smtClean="0"/>
              <a:t>7/28/2025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97C499-A517-DCEB-5A5D-144DAD08C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119" y="1141923"/>
            <a:ext cx="7559166" cy="340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Are Research Papers Important in DS &amp; ML?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Navigating Research Paper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Reading Strategies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Research Gaps, Critical Analysis &amp; Connecting Papers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Practice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3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4A6ECEDB-6428-FF74-ADD1-2BF9E927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5D619569-35A0-8D6A-93C6-8BE8EC8DD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and Machine Learning are among the most dynamic and fast-evolving domains. New models, algorithms, and applications emerge frequently—what was state-of-the-art a year ago might already be obsolete today. Research papers are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sources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innovation, and reading them is essential for: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Staying updated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latest breakthroughs (e.g., Transformer models, Federated Learning,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foundational concepts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gradient descent, SVMs, or loss functions) through formal presentation.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novel ideas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building on past research.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redundancy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—ensuring your work is original and not already published.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methodology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—how to structure experiments, evaluate models, and analyze results.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CD066F29-A65A-06B9-E7C9-097C47FC4302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Research Papers Important in DS &amp; ML?</a:t>
            </a:r>
            <a:endParaRPr sz="2500" b="1" i="0" dirty="0">
              <a:solidFill>
                <a:schemeClr val="lt1"/>
              </a:solidFill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CA0D18B7-A699-6DF4-15BA-E27E4ADC7CB9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5FEAF6-D4BC-8084-1B70-2A73923571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198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1F2A79F3-712C-50C3-A74D-BEDC1D39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B732699D-8917-FC12-ECC7-305A6AD6A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None/>
            </a:pPr>
            <a:r>
              <a:rPr lang="en-US" sz="1600" b="1" dirty="0"/>
              <a:t>What Is a Research Paper?</a:t>
            </a:r>
          </a:p>
          <a:p>
            <a:pPr algn="l">
              <a:buNone/>
            </a:pPr>
            <a:r>
              <a:rPr lang="en-US" sz="1600" dirty="0"/>
              <a:t>A research paper is a </a:t>
            </a:r>
            <a:r>
              <a:rPr lang="en-US" sz="1600" b="1" dirty="0"/>
              <a:t>formal document</a:t>
            </a:r>
            <a:r>
              <a:rPr lang="en-US" sz="1600" dirty="0"/>
              <a:t> that presents: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/>
              <a:t>A </a:t>
            </a:r>
            <a:r>
              <a:rPr lang="en-US" sz="1600" b="1" dirty="0"/>
              <a:t>specific problem or hypothesis</a:t>
            </a:r>
            <a:r>
              <a:rPr lang="en-US" sz="1600" dirty="0"/>
              <a:t>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/>
              <a:t>A </a:t>
            </a:r>
            <a:r>
              <a:rPr lang="en-US" sz="1600" b="1" dirty="0"/>
              <a:t>methodological approach</a:t>
            </a:r>
            <a:r>
              <a:rPr lang="en-US" sz="1600" dirty="0"/>
              <a:t> to solving it,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dirty="0"/>
              <a:t>Experiments or simulations</a:t>
            </a:r>
            <a:r>
              <a:rPr lang="en-US" sz="1600" dirty="0"/>
              <a:t>, and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/>
              <a:t>A </a:t>
            </a:r>
            <a:r>
              <a:rPr lang="en-US" sz="1600" b="1" dirty="0"/>
              <a:t>discussion of results</a:t>
            </a:r>
            <a:r>
              <a:rPr lang="en-US" sz="1600" dirty="0"/>
              <a:t>, often in comparison with previous work.</a:t>
            </a:r>
          </a:p>
          <a:p>
            <a:pPr algn="l">
              <a:buNone/>
            </a:pPr>
            <a:r>
              <a:rPr lang="en-US" sz="1600" dirty="0"/>
              <a:t>In Data Science and ML, these papers often contain: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/>
              <a:t>Mathematical models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/>
              <a:t>Algorithms or pseudocode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/>
              <a:t>Experimental setup and datasets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/>
              <a:t>Performance metrics and benchmarks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7E2DFF0F-0A37-184F-AC26-718EA314411B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Research Papers Important in DS &amp; ML?</a:t>
            </a:r>
            <a:endParaRPr sz="2500" b="1" i="0" dirty="0">
              <a:solidFill>
                <a:schemeClr val="lt1"/>
              </a:solidFill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9E33343B-ED91-94CC-8FC7-BA60AF6F8269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2E5048-F474-CEE7-ABA2-E62764DDEC4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829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F63B2DB6-23A7-09E6-EBB4-B9DE04974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7204C239-2AB9-4773-BAAD-929D2E00D3C9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</a:t>
            </a:r>
            <a:endParaRPr sz="2500" b="1" i="0" dirty="0">
              <a:solidFill>
                <a:schemeClr val="lt1"/>
              </a:solidFill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DA621265-21D4-02D5-4323-D226B2FC098E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74E62A-64BC-DE5C-78AC-6A31FF9B44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027BF6-0EFB-5CE8-0928-862EE8E46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030080"/>
              </p:ext>
            </p:extLst>
          </p:nvPr>
        </p:nvGraphicFramePr>
        <p:xfrm>
          <a:off x="578644" y="1183713"/>
          <a:ext cx="7886700" cy="32918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1109350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387382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75239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669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Survey/Review Papers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Summarize existing work in a topic 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"A Survey on Federated Learning"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26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Conference Papers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Cutting-edge work, usually peer-reviewed and fast-published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NeurIPS, ICML, CVPR, ACL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962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Articles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In-depth and formal papers with extended peer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Transactions, JMLR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337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Workshop Papers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Preliminary or niche 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Workshops at NeurIPS, ICLR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079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Early-stage, unpublished work (not yet peer-reviewed)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arXiv.org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429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785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DD878388-0882-C42C-BFEC-71B3D732E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C9FA5A7B-9EF6-61CF-A093-0FD56E332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Can You Find Research Papers?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arXiv.org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(Preprints and open access)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Scholar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SpringerLink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ScienceDirect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DL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 proceedings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ICML, ICLR, ACL, CVPR)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platforms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like:</a:t>
            </a:r>
          </a:p>
          <a:p>
            <a:pPr lvl="1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Papers With Code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(papers + code links + benchmarks)</a:t>
            </a:r>
          </a:p>
          <a:p>
            <a:pPr lvl="1" algn="just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(curated ML paper feeds)</a:t>
            </a:r>
          </a:p>
          <a:p>
            <a:pPr lvl="1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Scholar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(AI-driven paper search)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44D70DAF-B782-CA73-E6F0-D0CECA28A359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</a:t>
            </a:r>
            <a:endParaRPr sz="2500" b="1" i="0" dirty="0">
              <a:solidFill>
                <a:schemeClr val="lt1"/>
              </a:solidFill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F64CCF15-B30E-3A9A-8816-BAC16634EB12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A3F7D-CB3D-5947-AE61-33307091D9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70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1576B2F9-47CF-E921-20B0-6E7118981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16FBBCCD-D7E7-34D5-3E0D-B0F476FD0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 algn="l"/>
            <a:r>
              <a:rPr lang="en-US" dirty="0"/>
              <a:t>After engaging with research papers regularly, readers will: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dirty="0"/>
              <a:t>Develop </a:t>
            </a:r>
            <a:r>
              <a:rPr lang="en-US" b="1" dirty="0"/>
              <a:t>critical thinking</a:t>
            </a:r>
            <a:r>
              <a:rPr lang="en-US" dirty="0"/>
              <a:t> about methodologies and experiments.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dirty="0"/>
              <a:t>Learn </a:t>
            </a:r>
            <a:r>
              <a:rPr lang="en-US" b="1" dirty="0"/>
              <a:t>how to identify good ideas</a:t>
            </a:r>
            <a:r>
              <a:rPr lang="en-US" dirty="0"/>
              <a:t> and feasible directions.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dirty="0"/>
              <a:t>Acquire the </a:t>
            </a:r>
            <a:r>
              <a:rPr lang="en-US" b="1" dirty="0"/>
              <a:t>language and structure</a:t>
            </a:r>
            <a:r>
              <a:rPr lang="en-US" dirty="0"/>
              <a:t> needed to publish their own work.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dirty="0"/>
              <a:t>Understand </a:t>
            </a:r>
            <a:r>
              <a:rPr lang="en-US" b="1" dirty="0"/>
              <a:t>pitfalls and limitations</a:t>
            </a:r>
            <a:r>
              <a:rPr lang="en-US" dirty="0"/>
              <a:t> of algorithms/models.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dirty="0"/>
              <a:t>Be able to </a:t>
            </a:r>
            <a:r>
              <a:rPr lang="en-US" b="1" dirty="0"/>
              <a:t>replicate experiments</a:t>
            </a:r>
            <a:r>
              <a:rPr lang="en-US" dirty="0"/>
              <a:t> and build on them.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9238F761-B538-00A4-BFC7-29D666D0B858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</a:t>
            </a:r>
            <a:endParaRPr sz="2500" b="1" i="0" dirty="0">
              <a:solidFill>
                <a:schemeClr val="lt1"/>
              </a:solidFill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289CAB2B-0FF3-633D-978D-966652E7EF36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55DFF2-5EE6-5E63-9471-32A5E69F86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769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7AB46045-E2AF-83E4-1D88-47DBBC30F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FBAAAA35-8E2B-E6AD-AAD2-80B2BB61F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dirty="0"/>
              <a:t>Overwhelming technical jargon and math.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dirty="0"/>
              <a:t>Dense writing style with few examples.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dirty="0"/>
              <a:t>Lack of practical guidance.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dirty="0"/>
              <a:t>Too many acronyms and domain-specific abbreviations.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670B90B7-6DB1-7FDF-C071-6163D0778A67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</a:t>
            </a:r>
            <a:endParaRPr sz="2500" b="1" i="0" dirty="0">
              <a:solidFill>
                <a:schemeClr val="lt1"/>
              </a:solidFill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1AD9741E-8DAA-3AFF-3702-F81E0EAB2DC5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E2F15-CD79-FAAF-D1A0-A44067A44F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565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9BC49BA0-3C84-6C03-C6F1-0A79AE33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68D77DFF-03AB-234C-C886-DC51A17854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b="1" dirty="0"/>
              <a:t>1. Title</a:t>
            </a:r>
          </a:p>
          <a:p>
            <a:pPr algn="l"/>
            <a:r>
              <a:rPr lang="en-US" b="1" dirty="0"/>
              <a:t>What it tells you</a:t>
            </a:r>
            <a:r>
              <a:rPr lang="en-US" dirty="0"/>
              <a:t>: The topic, scope, or method.</a:t>
            </a:r>
          </a:p>
          <a:p>
            <a:pPr algn="l"/>
            <a:r>
              <a:rPr lang="en-US" b="1" dirty="0"/>
              <a:t>Why it matters</a:t>
            </a:r>
            <a:r>
              <a:rPr lang="en-US" dirty="0"/>
              <a:t>: A well-crafted title gives immediate insight into the paper's focus.</a:t>
            </a:r>
          </a:p>
          <a:p>
            <a:pPr algn="l"/>
            <a:r>
              <a:rPr lang="en-US" b="1" dirty="0"/>
              <a:t>Tip</a:t>
            </a:r>
            <a:r>
              <a:rPr lang="en-US" dirty="0"/>
              <a:t>: Look for action words like </a:t>
            </a:r>
            <a:r>
              <a:rPr lang="en-US" i="1" dirty="0"/>
              <a:t>“A Novel Approach,” “An Improved Method,” “Analysis of,”</a:t>
            </a:r>
            <a:r>
              <a:rPr lang="en-US" dirty="0"/>
              <a:t> which hint at the contribution.</a:t>
            </a:r>
          </a:p>
          <a:p>
            <a:pPr algn="l"/>
            <a:r>
              <a:rPr lang="en-US" i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</a:t>
            </a:r>
            <a:r>
              <a:rPr lang="en-US" b="1" dirty="0"/>
              <a:t>BERT: Pre-training of Deep Bidirectional Transformers for Language Understanding</a:t>
            </a:r>
            <a:r>
              <a:rPr lang="en-US" dirty="0"/>
              <a:t>” – gives clear info on the model (BERT) and task (language understanding).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B6ECEDA7-DFD7-3C15-615A-531738B3138D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Navigating Research Paper Structure</a:t>
            </a: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8EE96E41-4115-446E-7C64-8D054DC6038B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237575-B276-4ED6-C28D-977DA9579B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91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1799EA92-B6B7-F0FA-B1B5-B66A2FA90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C70DE661-0221-2C7F-459A-118738CDAA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b="1" dirty="0"/>
              <a:t>Abstract</a:t>
            </a:r>
          </a:p>
          <a:p>
            <a:pPr algn="l"/>
            <a:r>
              <a:rPr lang="en-US" b="1" dirty="0"/>
              <a:t>What it is</a:t>
            </a:r>
            <a:r>
              <a:rPr lang="en-US" dirty="0"/>
              <a:t>: A summary of the entire paper—problem, method, results, and conclusions—in about 150–250 words.</a:t>
            </a:r>
          </a:p>
          <a:p>
            <a:pPr algn="l"/>
            <a:r>
              <a:rPr lang="en-US" b="1" dirty="0"/>
              <a:t>Why it matters</a:t>
            </a:r>
            <a:r>
              <a:rPr lang="en-US" dirty="0"/>
              <a:t>: It helps determine if the paper is relevant to your research or interests.</a:t>
            </a:r>
          </a:p>
          <a:p>
            <a:pPr algn="l"/>
            <a:r>
              <a:rPr lang="en-US" b="1" dirty="0"/>
              <a:t>Key Elements to Look For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What problem is being solved?</a:t>
            </a:r>
          </a:p>
          <a:p>
            <a:pPr lvl="1"/>
            <a:r>
              <a:rPr lang="en-US" dirty="0"/>
              <a:t>What method or model is proposed?</a:t>
            </a:r>
          </a:p>
          <a:p>
            <a:pPr lvl="1"/>
            <a:r>
              <a:rPr lang="en-US" dirty="0"/>
              <a:t>What results were achieved?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823760DE-EF80-A9A5-CFD2-28B27EC670E2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Navigating Research Paper Structure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90105B1D-0862-B98A-2A1F-F6F9FF0CCA13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0DA70-70FA-286A-40F2-4EB1CBC708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450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3667A8D1-A870-C067-1C1F-64E3773A5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E93E036C-6242-F595-7632-CAF68A9D1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b="1" dirty="0"/>
              <a:t>Introduction</a:t>
            </a:r>
          </a:p>
          <a:p>
            <a:pPr algn="l"/>
            <a:r>
              <a:rPr lang="en-US" b="1" dirty="0"/>
              <a:t>Purpose</a:t>
            </a:r>
            <a:r>
              <a:rPr lang="en-US" dirty="0"/>
              <a:t>: Sets the context and motivation for the research.</a:t>
            </a:r>
          </a:p>
          <a:p>
            <a:pPr algn="l"/>
            <a:r>
              <a:rPr lang="en-US" b="1" dirty="0"/>
              <a:t>What it includes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Background information</a:t>
            </a:r>
          </a:p>
          <a:p>
            <a:pPr lvl="1"/>
            <a:r>
              <a:rPr lang="en-US" dirty="0"/>
              <a:t>The problem statement</a:t>
            </a:r>
          </a:p>
          <a:p>
            <a:pPr lvl="1"/>
            <a:r>
              <a:rPr lang="en-US" dirty="0"/>
              <a:t>Importance of solving the problem</a:t>
            </a:r>
          </a:p>
          <a:p>
            <a:pPr lvl="1"/>
            <a:r>
              <a:rPr lang="en-US" dirty="0"/>
              <a:t>A brief summary of contributions</a:t>
            </a:r>
          </a:p>
          <a:p>
            <a:pPr algn="l"/>
            <a:r>
              <a:rPr lang="en-US" b="1" dirty="0"/>
              <a:t>Why it matters</a:t>
            </a:r>
            <a:r>
              <a:rPr lang="en-US" dirty="0"/>
              <a:t>: It tells </a:t>
            </a:r>
            <a:r>
              <a:rPr lang="en-US" i="1" dirty="0"/>
              <a:t>why</a:t>
            </a:r>
            <a:r>
              <a:rPr lang="en-US" dirty="0"/>
              <a:t> the research was done and </a:t>
            </a:r>
            <a:r>
              <a:rPr lang="en-US" i="1" dirty="0"/>
              <a:t>what gap</a:t>
            </a:r>
            <a:r>
              <a:rPr lang="en-US" dirty="0"/>
              <a:t> it aims to fill.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9BB0E544-02A4-EE4D-8F93-0CA30F7D5973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Navigating Research Paper Structure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79A28D2B-30D2-DDC1-C3F9-826E93D8192D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DB324-079F-9C30-1870-D7483FFC9C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767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939C4453-F629-07EC-8277-FBE0828C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54587E00-EAC2-771C-C976-EB4ADEDAAD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1500" b="1" dirty="0"/>
              <a:t>Methodology (or Approach)</a:t>
            </a:r>
          </a:p>
          <a:p>
            <a:pPr algn="l"/>
            <a:r>
              <a:rPr lang="en-US" sz="1500" b="1" dirty="0"/>
              <a:t>What it explains</a:t>
            </a:r>
            <a:r>
              <a:rPr lang="en-US" sz="1500" dirty="0"/>
              <a:t>: How the researchers approached the problem.</a:t>
            </a:r>
          </a:p>
          <a:p>
            <a:pPr algn="l"/>
            <a:r>
              <a:rPr lang="en-US" sz="1500" b="1" dirty="0"/>
              <a:t>Includes</a:t>
            </a:r>
            <a:r>
              <a:rPr lang="en-US" sz="1500" dirty="0"/>
              <a:t>:</a:t>
            </a:r>
          </a:p>
          <a:p>
            <a:pPr lvl="1"/>
            <a:r>
              <a:rPr lang="en-US" sz="1500" dirty="0"/>
              <a:t>Theoretical framework or model</a:t>
            </a:r>
          </a:p>
          <a:p>
            <a:pPr lvl="1"/>
            <a:r>
              <a:rPr lang="en-US" sz="1500" dirty="0"/>
              <a:t>Algorithms and techniques used</a:t>
            </a:r>
          </a:p>
          <a:p>
            <a:pPr lvl="1"/>
            <a:r>
              <a:rPr lang="en-US" sz="1500" dirty="0"/>
              <a:t>Dataset description</a:t>
            </a:r>
          </a:p>
          <a:p>
            <a:pPr lvl="1"/>
            <a:r>
              <a:rPr lang="en-US" sz="1500" dirty="0"/>
              <a:t>Training procedures, hyperparameters, and tools</a:t>
            </a:r>
          </a:p>
          <a:p>
            <a:pPr algn="l"/>
            <a:r>
              <a:rPr lang="en-US" sz="1500" b="1" dirty="0"/>
              <a:t>Why it matters</a:t>
            </a:r>
            <a:r>
              <a:rPr lang="en-US" sz="1500" dirty="0"/>
              <a:t>: To understand </a:t>
            </a:r>
            <a:r>
              <a:rPr lang="en-US" sz="1500" i="1" dirty="0"/>
              <a:t>how</a:t>
            </a:r>
            <a:r>
              <a:rPr lang="en-US" sz="1500" dirty="0"/>
              <a:t> results were achieved and whether you can replicate or build upon the work.</a:t>
            </a:r>
          </a:p>
          <a:p>
            <a:pPr algn="l"/>
            <a:r>
              <a:rPr lang="en-US" sz="1500" i="1" dirty="0"/>
              <a:t>Watch for</a:t>
            </a:r>
            <a:r>
              <a:rPr lang="en-US" sz="1500" dirty="0"/>
              <a:t>:</a:t>
            </a:r>
          </a:p>
          <a:p>
            <a:pPr algn="l"/>
            <a:r>
              <a:rPr lang="en-US" sz="1500" dirty="0"/>
              <a:t>Diagrams or pseudocode explaining the model architecture.</a:t>
            </a:r>
          </a:p>
          <a:p>
            <a:pPr algn="l"/>
            <a:r>
              <a:rPr lang="en-US" sz="1500" dirty="0"/>
              <a:t>Justification of design choices.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9F80102A-5192-82E3-EA95-46D033219E88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Navigating Research Paper Structure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8BEA689A-BFCD-6B63-7F6F-5674D2F5E78E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2FFC6-B61A-E0AF-2B10-DE1E872EBB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509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752B3FAE-E74A-75E1-E561-59044CF07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D771F96E-881E-B009-5076-45712FD84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1500" b="1" dirty="0"/>
              <a:t>Results and Discussion</a:t>
            </a:r>
          </a:p>
          <a:p>
            <a:pPr algn="l"/>
            <a:r>
              <a:rPr lang="en-US" sz="1500" b="1" dirty="0"/>
              <a:t>Purpose</a:t>
            </a:r>
            <a:r>
              <a:rPr lang="en-US" sz="1500" dirty="0"/>
              <a:t>: Presents what the researchers found.</a:t>
            </a:r>
          </a:p>
          <a:p>
            <a:pPr algn="l"/>
            <a:r>
              <a:rPr lang="en-US" sz="1500" b="1" dirty="0"/>
              <a:t>What it includes</a:t>
            </a:r>
            <a:r>
              <a:rPr lang="en-US" sz="1500" dirty="0"/>
              <a:t>:</a:t>
            </a:r>
          </a:p>
          <a:p>
            <a:pPr lvl="1"/>
            <a:r>
              <a:rPr lang="en-US" sz="1500" dirty="0"/>
              <a:t>Tables, graphs, and metrics (e.g., accuracy, F1-score, loss curves)</a:t>
            </a:r>
          </a:p>
          <a:p>
            <a:pPr lvl="1"/>
            <a:r>
              <a:rPr lang="en-US" sz="1500" dirty="0"/>
              <a:t>Comparisons with baseline methods or prior work</a:t>
            </a:r>
          </a:p>
          <a:p>
            <a:pPr lvl="1"/>
            <a:r>
              <a:rPr lang="en-US" sz="1500" dirty="0"/>
              <a:t>Interpretation and explanation of the results</a:t>
            </a:r>
          </a:p>
          <a:p>
            <a:pPr algn="l"/>
            <a:r>
              <a:rPr lang="en-US" sz="1500" b="1" dirty="0"/>
              <a:t>Why it matters</a:t>
            </a:r>
            <a:r>
              <a:rPr lang="en-US" sz="1500" dirty="0"/>
              <a:t>: Helps assess whether the proposed method works and if the results are significant.</a:t>
            </a:r>
          </a:p>
          <a:p>
            <a:pPr algn="l"/>
            <a:r>
              <a:rPr lang="en-US" sz="1500" i="1" dirty="0"/>
              <a:t>Questions to Ask</a:t>
            </a:r>
            <a:r>
              <a:rPr lang="en-US" sz="1500" dirty="0"/>
              <a:t>:</a:t>
            </a:r>
          </a:p>
          <a:p>
            <a:pPr algn="l"/>
            <a:r>
              <a:rPr lang="en-US" sz="1500" dirty="0"/>
              <a:t>How much better is it than previous methods?</a:t>
            </a:r>
          </a:p>
          <a:p>
            <a:pPr algn="l"/>
            <a:r>
              <a:rPr lang="en-US" sz="1500" dirty="0"/>
              <a:t>Are the results statistically significant?</a:t>
            </a:r>
          </a:p>
          <a:p>
            <a:pPr algn="l"/>
            <a:r>
              <a:rPr lang="en-US" sz="1500" dirty="0"/>
              <a:t>Were the experiments fair and unbiased?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01BF880D-B288-6844-F40C-BCDF38F6ABC5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Navigating Research Paper Structure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EEF291C9-8F79-A1E1-7975-929C8EB43827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1B7F80-1BBD-E558-ECC0-127C8B455B1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540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90C9FD1E-9474-C68B-C44E-CA5B43A01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0B9ECBA5-F686-0C79-1562-65F1B0DB6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b="1" dirty="0"/>
              <a:t>Conclusion and Future Work</a:t>
            </a:r>
          </a:p>
          <a:p>
            <a:pPr algn="l"/>
            <a:r>
              <a:rPr lang="en-US" b="1" dirty="0"/>
              <a:t>Purpose</a:t>
            </a:r>
            <a:r>
              <a:rPr lang="en-US" dirty="0"/>
              <a:t>: Wraps up the paper and suggests what comes next.</a:t>
            </a:r>
          </a:p>
          <a:p>
            <a:pPr algn="l"/>
            <a:r>
              <a:rPr lang="en-US" b="1" dirty="0"/>
              <a:t>What it includes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Summary of key findings</a:t>
            </a:r>
          </a:p>
          <a:p>
            <a:pPr lvl="1"/>
            <a:r>
              <a:rPr lang="en-US" dirty="0"/>
              <a:t>Practical implications or limitations</a:t>
            </a:r>
          </a:p>
          <a:p>
            <a:pPr lvl="1"/>
            <a:r>
              <a:rPr lang="en-US" dirty="0"/>
              <a:t>Directions for future research</a:t>
            </a:r>
          </a:p>
          <a:p>
            <a:pPr algn="l"/>
            <a:r>
              <a:rPr lang="en-US" b="1" dirty="0"/>
              <a:t>Why it matters</a:t>
            </a:r>
            <a:r>
              <a:rPr lang="en-US" dirty="0"/>
              <a:t>: Shows whether the paper made a meaningful contribution and whether there’s room for improvement or follow-up.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6B4DF9D9-2DE0-999B-2EFD-E78DFB1032B7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Navigating Research Paper Structure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E8F9D75A-A892-5CDE-53ED-E7FB763992E0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885C93-413D-432F-2BEB-24D80C74A4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855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BAFC05EA-43D0-304E-F524-20D70D48A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85645660-5F4E-33EE-E032-FF4560A02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b="1" dirty="0"/>
              <a:t>Skimming and Scanning for Initial Understanding</a:t>
            </a:r>
          </a:p>
          <a:p>
            <a:pPr algn="l"/>
            <a:r>
              <a:rPr lang="en-US" b="1" dirty="0"/>
              <a:t>Skimming (Broad Understanding)</a:t>
            </a:r>
          </a:p>
          <a:p>
            <a:pPr algn="l"/>
            <a:r>
              <a:rPr lang="en-US" b="1" dirty="0"/>
              <a:t>What it is</a:t>
            </a:r>
            <a:r>
              <a:rPr lang="en-US" dirty="0"/>
              <a:t>: Quickly glancing through the paper to understand the </a:t>
            </a:r>
            <a:r>
              <a:rPr lang="en-US" b="1" dirty="0"/>
              <a:t>main topic</a:t>
            </a:r>
            <a:r>
              <a:rPr lang="en-US" dirty="0"/>
              <a:t> and </a:t>
            </a:r>
            <a:r>
              <a:rPr lang="en-US" b="1" dirty="0"/>
              <a:t>key findings</a:t>
            </a:r>
            <a:r>
              <a:rPr lang="en-US" dirty="0"/>
              <a:t>.</a:t>
            </a:r>
          </a:p>
          <a:p>
            <a:pPr algn="l"/>
            <a:r>
              <a:rPr lang="en-US" b="1" dirty="0"/>
              <a:t>When to use it</a:t>
            </a:r>
            <a:r>
              <a:rPr lang="en-US" dirty="0"/>
              <a:t>: To decide if the paper is worth a deeper read.</a:t>
            </a:r>
          </a:p>
          <a:p>
            <a:pPr algn="l"/>
            <a:r>
              <a:rPr lang="en-US" b="1" dirty="0"/>
              <a:t>How to do it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Read the </a:t>
            </a:r>
            <a:r>
              <a:rPr lang="en-US" b="1" dirty="0"/>
              <a:t>title</a:t>
            </a:r>
            <a:r>
              <a:rPr lang="en-US" dirty="0"/>
              <a:t>, </a:t>
            </a:r>
            <a:r>
              <a:rPr lang="en-US" b="1" dirty="0"/>
              <a:t>abstract</a:t>
            </a:r>
            <a:r>
              <a:rPr lang="en-US" dirty="0"/>
              <a:t>, </a:t>
            </a:r>
            <a:r>
              <a:rPr lang="en-US" b="1" dirty="0"/>
              <a:t>introduction</a:t>
            </a:r>
            <a:r>
              <a:rPr lang="en-US" dirty="0"/>
              <a:t>, and </a:t>
            </a:r>
            <a:r>
              <a:rPr lang="en-US" b="1" dirty="0"/>
              <a:t>conclusion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Look at </a:t>
            </a:r>
            <a:r>
              <a:rPr lang="en-US" b="1" dirty="0"/>
              <a:t>section headings</a:t>
            </a:r>
            <a:r>
              <a:rPr lang="en-US" dirty="0"/>
              <a:t>, </a:t>
            </a:r>
            <a:r>
              <a:rPr lang="en-US" b="1" dirty="0"/>
              <a:t>figures</a:t>
            </a:r>
            <a:r>
              <a:rPr lang="en-US" dirty="0"/>
              <a:t>, and </a:t>
            </a:r>
            <a:r>
              <a:rPr lang="en-US" b="1" dirty="0"/>
              <a:t>tables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Pay attention to </a:t>
            </a:r>
            <a:r>
              <a:rPr lang="en-US" b="1" dirty="0"/>
              <a:t>keywords</a:t>
            </a:r>
            <a:r>
              <a:rPr lang="en-US" dirty="0"/>
              <a:t> like "proposed model," "state-of-the-art," or "benchmark."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F94F2D98-40F6-C553-BDFC-89927C8A261A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Reading Strategies</a:t>
            </a: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EA0BF746-AABB-D20C-6AF6-19FFF0F4E0FC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C43421-A45C-1585-CF2D-5EB841C5C7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965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66339F83-9C21-1BE5-C809-92C20799F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00A180A7-AD7E-D02F-64F0-198C40CF03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b="1" dirty="0"/>
              <a:t>Scanning (Focused Search)</a:t>
            </a:r>
          </a:p>
          <a:p>
            <a:pPr algn="l"/>
            <a:r>
              <a:rPr lang="en-US" b="1" dirty="0"/>
              <a:t>What it is</a:t>
            </a:r>
            <a:r>
              <a:rPr lang="en-US" dirty="0"/>
              <a:t>: Looking for specific information, like a formula, result, or comparison.</a:t>
            </a:r>
          </a:p>
          <a:p>
            <a:pPr algn="l"/>
            <a:r>
              <a:rPr lang="en-US" b="1" dirty="0"/>
              <a:t>When to use it</a:t>
            </a:r>
            <a:r>
              <a:rPr lang="en-US" dirty="0"/>
              <a:t>: When researching a particular method or component (e.g., “Adam optimizer” or “Transformer attention”).</a:t>
            </a:r>
          </a:p>
          <a:p>
            <a:pPr algn="l"/>
            <a:r>
              <a:rPr lang="en-US" b="1" dirty="0"/>
              <a:t>How to do it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Use the </a:t>
            </a:r>
            <a:r>
              <a:rPr lang="en-US" b="1" dirty="0"/>
              <a:t>Find (</a:t>
            </a:r>
            <a:r>
              <a:rPr lang="en-US" b="1" dirty="0" err="1"/>
              <a:t>Ctrl+F</a:t>
            </a:r>
            <a:r>
              <a:rPr lang="en-US" b="1" dirty="0"/>
              <a:t>)</a:t>
            </a:r>
            <a:r>
              <a:rPr lang="en-US" dirty="0"/>
              <a:t> feature for terms.</a:t>
            </a:r>
          </a:p>
          <a:p>
            <a:pPr lvl="1"/>
            <a:r>
              <a:rPr lang="en-US" dirty="0"/>
              <a:t>Look for </a:t>
            </a:r>
            <a:r>
              <a:rPr lang="en-US" b="1" dirty="0"/>
              <a:t>tables of comparison</a:t>
            </a:r>
            <a:r>
              <a:rPr lang="en-US" dirty="0"/>
              <a:t>, </a:t>
            </a:r>
            <a:r>
              <a:rPr lang="en-US" b="1" dirty="0"/>
              <a:t>mathematical equations</a:t>
            </a:r>
            <a:r>
              <a:rPr lang="en-US" dirty="0"/>
              <a:t>, or </a:t>
            </a:r>
            <a:r>
              <a:rPr lang="en-US" b="1" dirty="0"/>
              <a:t>implementation details</a:t>
            </a:r>
            <a:r>
              <a:rPr lang="en-US" dirty="0"/>
              <a:t>.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72DC41D3-75B1-6FAA-343B-83DC232693F5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Reading Strategies</a:t>
            </a: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3166CF24-E979-F8D5-C9C8-036B912AD7CB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895600-1270-EE32-7D99-F41A613C99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20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D68722BD-1943-B809-A782-9CE102F9D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39CA8B3D-AF9D-77A2-7185-FB26B8F4C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In-Depth Reading for Detailed Comprehension</a:t>
            </a:r>
          </a:p>
          <a:p>
            <a:pPr algn="l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you’ve identified a relevant paper,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reading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you fully understand the contributions.</a:t>
            </a:r>
          </a:p>
          <a:p>
            <a:pPr algn="l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approach it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slowly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—understand the problem and context.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 into the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—draw diagrams, map out architecture.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the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—examine baselines and improvements.</a:t>
            </a:r>
          </a:p>
          <a:p>
            <a:pPr algn="l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the paper into sections and read over multiple sittings.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Annotate directly on PDFs using tools like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Zotero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Notability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Hypothes.is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margin notes or summarize each section in your own words.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AC920DA1-CE7B-578E-45B5-F5A69DA03DA6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Reading Strategies</a:t>
            </a: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776A98CC-9F8D-3EB1-4CDE-E7072C011F05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0C4D3-8830-90EE-3AEB-EA445DF8F8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971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447205D9-00AC-F432-BB4E-D5BA83BAC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A0B5219F-0097-E63E-232C-E9B982F36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b="1" dirty="0"/>
              <a:t>Highlighting and Note-Taking Techniques</a:t>
            </a:r>
          </a:p>
          <a:p>
            <a:pPr algn="l"/>
            <a:r>
              <a:rPr lang="en-US" b="1" dirty="0"/>
              <a:t>Highlighting Tips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Highlight only the </a:t>
            </a:r>
            <a:r>
              <a:rPr lang="en-US" b="1" dirty="0"/>
              <a:t>main idea of a paragraph</a:t>
            </a:r>
            <a:r>
              <a:rPr lang="en-US" dirty="0"/>
              <a:t>—not entire blocks of text.</a:t>
            </a:r>
          </a:p>
          <a:p>
            <a:pPr lvl="1"/>
            <a:r>
              <a:rPr lang="en-US" dirty="0"/>
              <a:t>Use different colors for different purposes:</a:t>
            </a:r>
          </a:p>
          <a:p>
            <a:pPr lvl="2"/>
            <a:r>
              <a:rPr lang="en-US" dirty="0"/>
              <a:t>🟨 Yellow: Main findings</a:t>
            </a:r>
          </a:p>
          <a:p>
            <a:pPr lvl="2"/>
            <a:r>
              <a:rPr lang="en-US" dirty="0"/>
              <a:t>🟩 Green: Methods or techniques</a:t>
            </a:r>
          </a:p>
          <a:p>
            <a:pPr lvl="2"/>
            <a:r>
              <a:rPr lang="en-US" dirty="0"/>
              <a:t>🟦 Blue: Future work or research gaps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038E3559-3BD4-B12A-014F-DB91DFD895FB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Reading Strategies</a:t>
            </a: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8D61F1F6-4ED8-4D0A-BA07-CB4F7EE8BC8A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7A0EA4-5477-1286-2F39-53A06FE6DA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590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AE96AB5B-42E0-AE46-5C62-76C5B02A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A9645FA9-C93C-D5D6-1E6A-80F50CD3F1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b="1" dirty="0"/>
              <a:t>Note-Taking Formats</a:t>
            </a:r>
            <a:r>
              <a:rPr lang="en-US" dirty="0"/>
              <a:t>:</a:t>
            </a:r>
          </a:p>
          <a:p>
            <a:pPr algn="l"/>
            <a:r>
              <a:rPr lang="en-US" b="1" dirty="0"/>
              <a:t>Cornell Notes</a:t>
            </a:r>
            <a:r>
              <a:rPr lang="en-US" dirty="0"/>
              <a:t>: Divide notes into keywords, summaries, and questions.</a:t>
            </a:r>
          </a:p>
          <a:p>
            <a:pPr algn="l"/>
            <a:r>
              <a:rPr lang="en-US" b="1" dirty="0" err="1"/>
              <a:t>Zettelkasten</a:t>
            </a:r>
            <a:r>
              <a:rPr lang="en-US" dirty="0"/>
              <a:t>: Write each idea on a digital card, linking to related notes.</a:t>
            </a:r>
          </a:p>
          <a:p>
            <a:pPr algn="l"/>
            <a:r>
              <a:rPr lang="en-US" b="1" dirty="0"/>
              <a:t>Research Diary</a:t>
            </a:r>
            <a:r>
              <a:rPr lang="en-US" dirty="0"/>
              <a:t>: Maintain a separate document where you:</a:t>
            </a:r>
          </a:p>
          <a:p>
            <a:pPr lvl="1"/>
            <a:r>
              <a:rPr lang="en-US" dirty="0"/>
              <a:t>Summarize papers</a:t>
            </a:r>
          </a:p>
          <a:p>
            <a:pPr lvl="1"/>
            <a:r>
              <a:rPr lang="en-US" dirty="0"/>
              <a:t>Track ideas for your own research</a:t>
            </a:r>
          </a:p>
          <a:p>
            <a:pPr lvl="1"/>
            <a:r>
              <a:rPr lang="en-US" dirty="0"/>
              <a:t>List useful datasets and tools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E29A20DF-CBDB-C902-6975-407C60103895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Reading Strategies</a:t>
            </a: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7DC50B97-85D0-8ABB-FA1A-BC4E8822791D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47CFD3-AE9C-4BDD-FAC8-7EB78DDB57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330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DF66E049-C016-13A0-6E74-4EFE4BC6D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B79E31F2-C6B2-9E9F-2E61-0C4353AE9E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Decoding Mathematical Equations</a:t>
            </a:r>
          </a:p>
          <a:p>
            <a:pPr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expressions in DS/ML papers can look intimidating, but they’re often compact versions of algorithmic steps. Here’s how to unpack them:</a:t>
            </a:r>
          </a:p>
          <a:p>
            <a:pPr algn="just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for Understanding Mathematical Notations</a:t>
            </a:r>
          </a:p>
          <a:p>
            <a:pPr algn="just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Symbols First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 section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(if provided).</a:t>
            </a:r>
          </a:p>
          <a:p>
            <a:pPr lvl="1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 glossary of symbols (e.g., xxx: input vector, WWW: weight matrix).</a:t>
            </a:r>
          </a:p>
          <a:p>
            <a:pPr algn="just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Text Around the Equation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 often describe what each part means—don't skip the explanation.</a:t>
            </a:r>
          </a:p>
          <a:p>
            <a:pPr algn="just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It Down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each equation line-by-line.</a:t>
            </a:r>
          </a:p>
          <a:p>
            <a:pPr lvl="1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it into pseudocode or flowcharts.</a:t>
            </a:r>
          </a:p>
          <a:p>
            <a:pPr algn="just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 to Known Concepts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a loss function? An optimization step? Try connecting it to a known algorithm (e.g., cross-entropy loss,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6272FEC3-36FE-14C5-EFC7-3B5BACB72AEC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Reading Strategies</a:t>
            </a: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B9760A19-A35C-3BA0-6BEA-9A2E853F13C5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C98A1E-6336-D486-89C9-7C5CC53E65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966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15C09F88-9814-251D-A35A-379E9DDB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5507320F-16CE-A2FE-C95C-03C8C90573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 algn="l"/>
            <a:r>
              <a:rPr lang="en-IN" sz="1400" b="1" dirty="0"/>
              <a:t>Interpreting Figures and Tables</a:t>
            </a:r>
          </a:p>
          <a:p>
            <a:pPr algn="l"/>
            <a:r>
              <a:rPr lang="en-IN" sz="1400" b="1" dirty="0"/>
              <a:t>Extracting Value from Visuals</a:t>
            </a:r>
          </a:p>
          <a:p>
            <a:pPr algn="l"/>
            <a:r>
              <a:rPr lang="en-IN" sz="1400" dirty="0"/>
              <a:t>Research papers rely heavily on </a:t>
            </a:r>
            <a:r>
              <a:rPr lang="en-IN" sz="1400" b="1" dirty="0"/>
              <a:t>visualizations</a:t>
            </a:r>
            <a:r>
              <a:rPr lang="en-IN" sz="1400" dirty="0"/>
              <a:t> to show:</a:t>
            </a:r>
          </a:p>
          <a:p>
            <a:pPr algn="l"/>
            <a:r>
              <a:rPr lang="en-IN" sz="1400" dirty="0"/>
              <a:t>Model performance</a:t>
            </a:r>
          </a:p>
          <a:p>
            <a:pPr algn="l"/>
            <a:r>
              <a:rPr lang="en-IN" sz="1400" dirty="0"/>
              <a:t>Dataset characteristics</a:t>
            </a:r>
          </a:p>
          <a:p>
            <a:pPr algn="l"/>
            <a:r>
              <a:rPr lang="en-IN" sz="1400" dirty="0"/>
              <a:t>Feature importance</a:t>
            </a:r>
          </a:p>
          <a:p>
            <a:pPr algn="l"/>
            <a:r>
              <a:rPr lang="en-IN" sz="1400" dirty="0"/>
              <a:t>Training progression</a:t>
            </a:r>
          </a:p>
          <a:p>
            <a:pPr algn="l"/>
            <a:r>
              <a:rPr lang="en-IN" sz="1400" b="1" dirty="0"/>
              <a:t>Common Figures:</a:t>
            </a:r>
          </a:p>
          <a:p>
            <a:pPr algn="l"/>
            <a:r>
              <a:rPr lang="en-IN" sz="1400" b="1" dirty="0"/>
              <a:t>Line graphs</a:t>
            </a:r>
            <a:r>
              <a:rPr lang="en-IN" sz="1400" dirty="0"/>
              <a:t>: Training/validation loss over epochs.</a:t>
            </a:r>
          </a:p>
          <a:p>
            <a:pPr algn="l"/>
            <a:r>
              <a:rPr lang="en-IN" sz="1400" b="1" dirty="0"/>
              <a:t>Bar charts</a:t>
            </a:r>
            <a:r>
              <a:rPr lang="en-IN" sz="1400" dirty="0"/>
              <a:t>: Accuracy or F1-score comparisons.</a:t>
            </a:r>
          </a:p>
          <a:p>
            <a:pPr algn="l"/>
            <a:r>
              <a:rPr lang="en-IN" sz="1400" b="1" dirty="0"/>
              <a:t>Heatmaps</a:t>
            </a:r>
            <a:r>
              <a:rPr lang="en-IN" sz="1400" dirty="0"/>
              <a:t>: Attention maps, confusion matrices.</a:t>
            </a:r>
          </a:p>
          <a:p>
            <a:pPr algn="l"/>
            <a:r>
              <a:rPr lang="en-IN" sz="1400" b="1" dirty="0"/>
              <a:t>Boxplots</a:t>
            </a:r>
            <a:r>
              <a:rPr lang="en-IN" sz="1400" dirty="0"/>
              <a:t>: Distribution across multiple runs or datasets.</a:t>
            </a:r>
          </a:p>
          <a:p>
            <a:pPr algn="l"/>
            <a:r>
              <a:rPr lang="en-IN" sz="1400" b="1" dirty="0"/>
              <a:t>Tables:</a:t>
            </a:r>
          </a:p>
          <a:p>
            <a:pPr algn="l"/>
            <a:r>
              <a:rPr lang="en-IN" sz="1400" dirty="0"/>
              <a:t>Contain evaluation metrics like accuracy, precision, recall, F1-score, BLEU, etc.</a:t>
            </a:r>
          </a:p>
          <a:p>
            <a:pPr algn="l"/>
            <a:r>
              <a:rPr lang="en-IN" sz="1400" dirty="0"/>
              <a:t>Often compare </a:t>
            </a:r>
            <a:r>
              <a:rPr lang="en-IN" sz="1400" b="1" dirty="0"/>
              <a:t>multiple models</a:t>
            </a:r>
            <a:r>
              <a:rPr lang="en-IN" sz="1400" dirty="0"/>
              <a:t> or </a:t>
            </a:r>
            <a:r>
              <a:rPr lang="en-IN" sz="1400" b="1" dirty="0"/>
              <a:t>parameter configurations</a:t>
            </a:r>
            <a:r>
              <a:rPr lang="en-IN" sz="1400" dirty="0"/>
              <a:t>.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EFD83963-8DC8-1E3B-E3C1-CEFB3C3F09B1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Reading Strategies</a:t>
            </a: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825AB614-A11F-2C85-4650-0697AB91D7D4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AED0F5-1976-040F-2D39-47D95D0A79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455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A90EBF5E-C34E-45BA-6963-6ECD4788F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444D4203-5A3C-88BD-CC40-ECD507A7F8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994" y="1171715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b="1" dirty="0"/>
              <a:t>Identifying Trends, Patterns, and Correlations</a:t>
            </a:r>
          </a:p>
          <a:p>
            <a:pPr algn="l"/>
            <a:r>
              <a:rPr lang="en-US" dirty="0"/>
              <a:t>Ask:</a:t>
            </a:r>
          </a:p>
          <a:p>
            <a:pPr lvl="1"/>
            <a:r>
              <a:rPr lang="en-US" dirty="0"/>
              <a:t>Is performance improving over time or epochs?</a:t>
            </a:r>
          </a:p>
          <a:p>
            <a:pPr lvl="1"/>
            <a:r>
              <a:rPr lang="en-US" dirty="0"/>
              <a:t>Is one model consistently better across datasets?</a:t>
            </a:r>
          </a:p>
          <a:p>
            <a:pPr lvl="1"/>
            <a:r>
              <a:rPr lang="en-US" dirty="0"/>
              <a:t>Is there a trade-off between metrics (e.g., precision vs. recall)?</a:t>
            </a:r>
          </a:p>
          <a:p>
            <a:pPr algn="l"/>
            <a:r>
              <a:rPr lang="en-US" dirty="0"/>
              <a:t>Use patterns to evaluate:</a:t>
            </a:r>
          </a:p>
          <a:p>
            <a:pPr lvl="1"/>
            <a:r>
              <a:rPr lang="en-US" dirty="0"/>
              <a:t>Generalizability</a:t>
            </a:r>
          </a:p>
          <a:p>
            <a:pPr lvl="1"/>
            <a:r>
              <a:rPr lang="en-US" dirty="0"/>
              <a:t>Bias</a:t>
            </a:r>
          </a:p>
          <a:p>
            <a:pPr lvl="1"/>
            <a:r>
              <a:rPr lang="en-US" dirty="0"/>
              <a:t>Overfitting</a:t>
            </a:r>
          </a:p>
          <a:p>
            <a:pPr lvl="1"/>
            <a:r>
              <a:rPr lang="en-US" dirty="0"/>
              <a:t>Significance of improvements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145BC1FA-8691-9BE9-284D-484B07C844F6}"/>
              </a:ext>
            </a:extLst>
          </p:cNvPr>
          <p:cNvSpPr txBox="1"/>
          <p:nvPr/>
        </p:nvSpPr>
        <p:spPr>
          <a:xfrm>
            <a:off x="293124" y="243103"/>
            <a:ext cx="7422125" cy="40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Reading Strategies</a:t>
            </a:r>
          </a:p>
        </p:txBody>
      </p:sp>
      <p:sp>
        <p:nvSpPr>
          <p:cNvPr id="699" name="Google Shape;699;p40">
            <a:extLst>
              <a:ext uri="{FF2B5EF4-FFF2-40B4-BE49-F238E27FC236}">
                <a16:creationId xmlns:a16="http://schemas.microsoft.com/office/drawing/2014/main" id="{39437820-4191-A68D-EDE0-70CB13E712B0}"/>
              </a:ext>
            </a:extLst>
          </p:cNvPr>
          <p:cNvSpPr/>
          <p:nvPr/>
        </p:nvSpPr>
        <p:spPr>
          <a:xfrm>
            <a:off x="0" y="634701"/>
            <a:ext cx="9144000" cy="346934"/>
          </a:xfrm>
          <a:prstGeom prst="rect">
            <a:avLst/>
          </a:prstGeom>
          <a:solidFill>
            <a:srgbClr val="E72D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E7D302-D024-2559-3CA4-E9211FCC10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461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23FF1488-6C02-D485-0D76-91E56526A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3694A03F-3C39-C5F3-E437-9E10CB83E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124" y="743090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Research Gaps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are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unanswered questions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unsolved problems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unexplored areas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existing literature. Spotting them is essential for writing impactful research and building novel projects.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A. Recognizing the Problem Statement and Proposed Solutions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the introduction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specific problem is the paper addressing?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existing limitations or pain points are mentioned?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they solving a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issue?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proposed solution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new method/model/approach?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it different from or better than previous ones?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its assumptions?</a:t>
            </a:r>
          </a:p>
          <a:p>
            <a:pPr algn="l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paper proposes an image classification method using CNNs but assumes access to large labeled datasets, the gap may lie in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low-resource settings or semi-supervised learning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48B560C5-4141-DF0C-4C3D-8F8230103C4C}"/>
              </a:ext>
            </a:extLst>
          </p:cNvPr>
          <p:cNvSpPr txBox="1"/>
          <p:nvPr/>
        </p:nvSpPr>
        <p:spPr>
          <a:xfrm>
            <a:off x="293124" y="222753"/>
            <a:ext cx="7422125" cy="30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Research Gaps, Critical Analysis &amp; Connecting Papers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39F50-4EE8-AA19-2216-1757A7FA4B8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794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75496940-541D-323C-20DE-416E053BB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>
            <a:extLst>
              <a:ext uri="{FF2B5EF4-FFF2-40B4-BE49-F238E27FC236}">
                <a16:creationId xmlns:a16="http://schemas.microsoft.com/office/drawing/2014/main" id="{4B40FC3A-64A2-5A25-C7CD-77D8EE15F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124" y="743090"/>
            <a:ext cx="7566849" cy="28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1400" b="1" dirty="0"/>
              <a:t>Assessing the Limitations of the Research</a:t>
            </a:r>
          </a:p>
          <a:p>
            <a:pPr algn="l"/>
            <a:r>
              <a:rPr lang="en-US" sz="1400" dirty="0"/>
              <a:t>Authors often mention limitations in the </a:t>
            </a:r>
            <a:r>
              <a:rPr lang="en-US" sz="1400" b="1" dirty="0"/>
              <a:t>discussion or conclusion</a:t>
            </a:r>
            <a:r>
              <a:rPr lang="en-US" sz="1400" dirty="0"/>
              <a:t>, but as a critical reader, also:</a:t>
            </a:r>
          </a:p>
          <a:p>
            <a:pPr algn="l"/>
            <a:r>
              <a:rPr lang="en-US" sz="1400" dirty="0"/>
              <a:t>Look for </a:t>
            </a:r>
            <a:r>
              <a:rPr lang="en-US" sz="1400" b="1" dirty="0"/>
              <a:t>constraints in data</a:t>
            </a:r>
            <a:r>
              <a:rPr lang="en-US" sz="1400" dirty="0"/>
              <a:t> (size, type, source bias).</a:t>
            </a:r>
          </a:p>
          <a:p>
            <a:pPr algn="l"/>
            <a:r>
              <a:rPr lang="en-US" sz="1400" dirty="0"/>
              <a:t>Check for </a:t>
            </a:r>
            <a:r>
              <a:rPr lang="en-US" sz="1400" b="1" dirty="0"/>
              <a:t>model limitations</a:t>
            </a:r>
            <a:r>
              <a:rPr lang="en-US" sz="1400" dirty="0"/>
              <a:t> (generalizability, overfitting).</a:t>
            </a:r>
          </a:p>
          <a:p>
            <a:pPr algn="l"/>
            <a:r>
              <a:rPr lang="en-US" sz="1400" dirty="0"/>
              <a:t>Analyze </a:t>
            </a:r>
            <a:r>
              <a:rPr lang="en-US" sz="1400" b="1" dirty="0"/>
              <a:t>scope limitations</a:t>
            </a:r>
            <a:r>
              <a:rPr lang="en-US" sz="1400" dirty="0"/>
              <a:t> (narrow problem, unrealistic assumptions).</a:t>
            </a:r>
          </a:p>
          <a:p>
            <a:pPr algn="l"/>
            <a:endParaRPr lang="en-US" sz="1400" i="1" dirty="0"/>
          </a:p>
          <a:p>
            <a:pPr algn="l"/>
            <a:r>
              <a:rPr lang="en-US" sz="1400" i="1" dirty="0"/>
              <a:t>Tip</a:t>
            </a:r>
            <a:r>
              <a:rPr lang="en-US" sz="1400" dirty="0"/>
              <a:t>: If limitations aren't explicitly stated, infer them by questioning:</a:t>
            </a:r>
          </a:p>
          <a:p>
            <a:pPr algn="l"/>
            <a:r>
              <a:rPr lang="en-US" sz="1400" dirty="0"/>
              <a:t>Is the dataset small or biased?</a:t>
            </a:r>
          </a:p>
          <a:p>
            <a:pPr algn="l"/>
            <a:r>
              <a:rPr lang="en-US" sz="1400" dirty="0"/>
              <a:t>Are evaluation metrics appropriate?</a:t>
            </a:r>
          </a:p>
          <a:p>
            <a:pPr algn="l"/>
            <a:r>
              <a:rPr lang="en-US" sz="1400" dirty="0"/>
              <a:t>Is the approach scalable?</a:t>
            </a:r>
          </a:p>
        </p:txBody>
      </p:sp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55173F7A-44EC-7E6A-3BB5-7B7D74C4EEF4}"/>
              </a:ext>
            </a:extLst>
          </p:cNvPr>
          <p:cNvSpPr txBox="1"/>
          <p:nvPr/>
        </p:nvSpPr>
        <p:spPr>
          <a:xfrm>
            <a:off x="293124" y="222753"/>
            <a:ext cx="7422125" cy="30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Research Gaps, Critical Analysis &amp; Connecting Papers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137423-ED6B-54E3-DC11-4C96623F40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783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EF04A8F2-B107-E86D-590B-A90D0E2E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9BAA837F-DB49-10C1-07E1-08DC5E61E7F8}"/>
              </a:ext>
            </a:extLst>
          </p:cNvPr>
          <p:cNvSpPr txBox="1"/>
          <p:nvPr/>
        </p:nvSpPr>
        <p:spPr>
          <a:xfrm>
            <a:off x="293124" y="222753"/>
            <a:ext cx="7422125" cy="30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Research Gaps, Critical Analysis &amp; Connecting Papers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7D141A-01F0-F323-CE2A-1BC8491732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A922B4-3685-67C6-DA57-85720CE4C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38378"/>
              </p:ext>
            </p:extLst>
          </p:nvPr>
        </p:nvGraphicFramePr>
        <p:xfrm>
          <a:off x="564357" y="964724"/>
          <a:ext cx="7886700" cy="298704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416693614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996664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Criteria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Questions to 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158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Dataset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Is it publicly available? Representative? Biased?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427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Baselines for 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Are fair and strong baselines used?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725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Evaluation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Are they appropriate for the task? (e.g., accuracy vs. F1)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855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Reproducibility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Is code/dataset available? Are experiments well-documented?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567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Model Interpretability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Is the model explainable or a black box?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83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Robustness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Are the results stable across various settings/datasets?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201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635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AE94065F-D65F-5748-9BE4-9353C06E0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EE0D310C-4D28-3661-8640-08B991F8E49C}"/>
              </a:ext>
            </a:extLst>
          </p:cNvPr>
          <p:cNvSpPr txBox="1"/>
          <p:nvPr/>
        </p:nvSpPr>
        <p:spPr>
          <a:xfrm>
            <a:off x="293124" y="222753"/>
            <a:ext cx="7422125" cy="30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Research Gaps, Critical Analysis &amp; Connecting Papers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736763-9022-8606-985A-CF1332711C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2BA038-57A3-1F61-6D80-3B4506BD9807}"/>
              </a:ext>
            </a:extLst>
          </p:cNvPr>
          <p:cNvSpPr txBox="1"/>
          <p:nvPr/>
        </p:nvSpPr>
        <p:spPr>
          <a:xfrm>
            <a:off x="628650" y="1002090"/>
            <a:ext cx="79367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Assessing Validity and Reliability of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Validity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Are the results really due to the method used and not other factors?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Validity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 the method be generalized to other datasets/tasks?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Significance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 reported improvements hold across multiple trials? Are they statistically tested?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Repetition of Experiments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Are the experiments run multiple times with consistent results?</a:t>
            </a:r>
          </a:p>
        </p:txBody>
      </p:sp>
    </p:spTree>
    <p:extLst>
      <p:ext uri="{BB962C8B-B14F-4D97-AF65-F5344CB8AC3E}">
        <p14:creationId xmlns:p14="http://schemas.microsoft.com/office/powerpoint/2010/main" val="3552573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18F40913-0178-C92E-D2C5-02AAFF8BF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E0E7A5DA-A133-A04C-283D-8B9736FF1CB0}"/>
              </a:ext>
            </a:extLst>
          </p:cNvPr>
          <p:cNvSpPr txBox="1"/>
          <p:nvPr/>
        </p:nvSpPr>
        <p:spPr>
          <a:xfrm>
            <a:off x="293124" y="222753"/>
            <a:ext cx="7422125" cy="30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Research Gaps, Critical Analysis &amp; Connecting Papers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25AD73-85AB-551B-2654-6975BD5156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61672-5FB1-B225-1DE5-075A0EE17390}"/>
              </a:ext>
            </a:extLst>
          </p:cNvPr>
          <p:cNvSpPr txBox="1"/>
          <p:nvPr/>
        </p:nvSpPr>
        <p:spPr>
          <a:xfrm>
            <a:off x="628650" y="1002090"/>
            <a:ext cx="79367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Papers and Mapping the Research Landscape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papers allows researchers to understand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knowledge evolves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they can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their own contributions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how to avoid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work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How Papers Build on Each Other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for: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Citations in the introduction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which works the current paper depends on.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"Inspired by" or "Extending" phrases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Indicates incremental innovation.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Comparisons in results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Identify which papers are direct competitors or benchmarks.</a:t>
            </a:r>
          </a:p>
        </p:txBody>
      </p:sp>
    </p:spTree>
    <p:extLst>
      <p:ext uri="{BB962C8B-B14F-4D97-AF65-F5344CB8AC3E}">
        <p14:creationId xmlns:p14="http://schemas.microsoft.com/office/powerpoint/2010/main" val="3456047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A35EBDC7-0AE6-62C6-F5AF-53A72F855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EB071D15-AD97-A011-30CB-E19220D7FDF9}"/>
              </a:ext>
            </a:extLst>
          </p:cNvPr>
          <p:cNvSpPr txBox="1"/>
          <p:nvPr/>
        </p:nvSpPr>
        <p:spPr>
          <a:xfrm>
            <a:off x="293124" y="222753"/>
            <a:ext cx="7422125" cy="30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Research Gaps, Critical Analysis &amp; Connecting Papers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966D2C-3552-F516-9F57-BE01DC5481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8DF1E6-B45D-7646-CEC7-F8A7732C3CFB}"/>
              </a:ext>
            </a:extLst>
          </p:cNvPr>
          <p:cNvSpPr txBox="1"/>
          <p:nvPr/>
        </p:nvSpPr>
        <p:spPr>
          <a:xfrm>
            <a:off x="628650" y="1002090"/>
            <a:ext cx="79367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Coherent Understanding of the Research Landscape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map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from foundational papers (e.g., “Attention is All You Need”).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forward citations to track progress (e.g., BERT →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GPT → T5).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themes and subfields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NLP: text classification, language modeling, summarization.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CV: object detection, segmentation, super-resolution.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log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title, summary, strengths, weaknesses, ideas for improvement.</a:t>
            </a:r>
          </a:p>
        </p:txBody>
      </p:sp>
    </p:spTree>
    <p:extLst>
      <p:ext uri="{BB962C8B-B14F-4D97-AF65-F5344CB8AC3E}">
        <p14:creationId xmlns:p14="http://schemas.microsoft.com/office/powerpoint/2010/main" val="3887485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D6A3FCBE-D00C-2AA8-0FCE-12EA006A8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>
            <a:extLst>
              <a:ext uri="{FF2B5EF4-FFF2-40B4-BE49-F238E27FC236}">
                <a16:creationId xmlns:a16="http://schemas.microsoft.com/office/drawing/2014/main" id="{2A6C7ED5-1727-A15B-34EA-CDBF86DA77BB}"/>
              </a:ext>
            </a:extLst>
          </p:cNvPr>
          <p:cNvSpPr txBox="1"/>
          <p:nvPr/>
        </p:nvSpPr>
        <p:spPr>
          <a:xfrm>
            <a:off x="293124" y="222753"/>
            <a:ext cx="7422125" cy="30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just">
              <a:lnSpc>
                <a:spcPct val="80000"/>
              </a:lnSpc>
              <a:buClr>
                <a:schemeClr val="lt1"/>
              </a:buClr>
              <a:buSzPts val="2340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Research Gaps, Critical Analysis &amp; Connecting Papers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0210CF-C03C-0A6D-00F1-E3864364A0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837386-6416-4B67-A9CB-E069B3827D4C}" type="datetime1">
              <a:rPr lang="en-US" smtClean="0"/>
              <a:t>7/28/2025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9099A6-8C84-9064-B7E7-59FBE4B7B1DC}"/>
              </a:ext>
            </a:extLst>
          </p:cNvPr>
          <p:cNvSpPr txBox="1"/>
          <p:nvPr/>
        </p:nvSpPr>
        <p:spPr>
          <a:xfrm>
            <a:off x="628650" y="1002090"/>
            <a:ext cx="79367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Coherent Understanding of the Research Landscape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map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from foundational papers (e.g., “Attention is All You Need”).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forward citations to track progress (e.g., BERT →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GPT → T5).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themes and subfields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NLP: text classification, language modeling, summarization.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CV: object detection, segmentation, super-resolution.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log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title, summary, strengths, weaknesses, ideas for improvement.</a:t>
            </a:r>
          </a:p>
        </p:txBody>
      </p:sp>
    </p:spTree>
    <p:extLst>
      <p:ext uri="{BB962C8B-B14F-4D97-AF65-F5344CB8AC3E}">
        <p14:creationId xmlns:p14="http://schemas.microsoft.com/office/powerpoint/2010/main" val="2827969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4FB040-3263-B333-CC46-8386ACEBEC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F4DB91-E867-4C50-B8DF-82E0249F6E5B}" type="datetime1">
              <a:rPr lang="en-US" smtClean="0"/>
              <a:t>7/28/2025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0062C-D3D9-78C9-AD79-6DBDB882E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9131" y="2147888"/>
            <a:ext cx="5265737" cy="2619375"/>
          </a:xfrm>
        </p:spPr>
        <p:txBody>
          <a:bodyPr/>
          <a:lstStyle/>
          <a:p>
            <a:r>
              <a:rPr lang="en-IN" sz="4000" b="1" dirty="0"/>
              <a:t>Hands-On Practice </a:t>
            </a:r>
          </a:p>
        </p:txBody>
      </p:sp>
    </p:spTree>
    <p:extLst>
      <p:ext uri="{BB962C8B-B14F-4D97-AF65-F5344CB8AC3E}">
        <p14:creationId xmlns:p14="http://schemas.microsoft.com/office/powerpoint/2010/main" val="39322625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>
          <a:extLst>
            <a:ext uri="{FF2B5EF4-FFF2-40B4-BE49-F238E27FC236}">
              <a16:creationId xmlns:a16="http://schemas.microsoft.com/office/drawing/2014/main" id="{C52BCD8E-5EDE-82E3-8F45-234201D2C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3">
            <a:extLst>
              <a:ext uri="{FF2B5EF4-FFF2-40B4-BE49-F238E27FC236}">
                <a16:creationId xmlns:a16="http://schemas.microsoft.com/office/drawing/2014/main" id="{82C0257E-64AE-D521-BF12-8E52C76185B1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0220734" y="-3856910"/>
            <a:ext cx="9144000" cy="51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43">
            <a:extLst>
              <a:ext uri="{FF2B5EF4-FFF2-40B4-BE49-F238E27FC236}">
                <a16:creationId xmlns:a16="http://schemas.microsoft.com/office/drawing/2014/main" id="{831FB799-C443-57C8-3FC3-F64BE58C6C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13848" y="3501834"/>
            <a:ext cx="53550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4312" marR="0" lvl="0" indent="-21431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IN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14312" marR="0" lvl="0" indent="-21431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IN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14312" marR="0" lvl="0" indent="-21431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IN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734" name="Google Shape;734;p43">
            <a:extLst>
              <a:ext uri="{FF2B5EF4-FFF2-40B4-BE49-F238E27FC236}">
                <a16:creationId xmlns:a16="http://schemas.microsoft.com/office/drawing/2014/main" id="{6E9D3156-1A0B-051C-C4BE-1B57936AF92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3">
            <a:extLst>
              <a:ext uri="{FF2B5EF4-FFF2-40B4-BE49-F238E27FC236}">
                <a16:creationId xmlns:a16="http://schemas.microsoft.com/office/drawing/2014/main" id="{004269A0-69EA-8FF7-A175-8A2817D5BF4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3">
            <a:extLst>
              <a:ext uri="{FF2B5EF4-FFF2-40B4-BE49-F238E27FC236}">
                <a16:creationId xmlns:a16="http://schemas.microsoft.com/office/drawing/2014/main" id="{EF870EA1-057A-660E-4448-449476B31631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E3B9FE1E-FEFF-3EB4-629E-513CD6671F26}"/>
              </a:ext>
            </a:extLst>
          </p:cNvPr>
          <p:cNvSpPr txBox="1"/>
          <p:nvPr/>
        </p:nvSpPr>
        <p:spPr>
          <a:xfrm>
            <a:off x="642167" y="622347"/>
            <a:ext cx="5493300" cy="13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endParaRPr sz="3600" b="0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9" name="Google Shape;739;p43">
            <a:extLst>
              <a:ext uri="{FF2B5EF4-FFF2-40B4-BE49-F238E27FC236}">
                <a16:creationId xmlns:a16="http://schemas.microsoft.com/office/drawing/2014/main" id="{B37CD08A-01DC-B438-F00C-3E0EBC1222D0}"/>
              </a:ext>
            </a:extLst>
          </p:cNvPr>
          <p:cNvSpPr txBox="1"/>
          <p:nvPr/>
        </p:nvSpPr>
        <p:spPr>
          <a:xfrm>
            <a:off x="6511924" y="4767263"/>
            <a:ext cx="20574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11</a:t>
            </a:r>
            <a:endParaRPr/>
          </a:p>
        </p:txBody>
      </p:sp>
      <p:pic>
        <p:nvPicPr>
          <p:cNvPr id="740" name="Google Shape;740;p43">
            <a:extLst>
              <a:ext uri="{FF2B5EF4-FFF2-40B4-BE49-F238E27FC236}">
                <a16:creationId xmlns:a16="http://schemas.microsoft.com/office/drawing/2014/main" id="{19A003E8-C535-8E23-97E4-7C813C5C66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3835" y="207090"/>
            <a:ext cx="813630" cy="217108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43">
            <a:extLst>
              <a:ext uri="{FF2B5EF4-FFF2-40B4-BE49-F238E27FC236}">
                <a16:creationId xmlns:a16="http://schemas.microsoft.com/office/drawing/2014/main" id="{C7960634-4997-997D-61CF-B6382B3751C7}"/>
              </a:ext>
            </a:extLst>
          </p:cNvPr>
          <p:cNvSpPr txBox="1"/>
          <p:nvPr/>
        </p:nvSpPr>
        <p:spPr>
          <a:xfrm>
            <a:off x="638175" y="1772885"/>
            <a:ext cx="7234238" cy="3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000" b="1" dirty="0"/>
              <a:t>The methodology section of a paper mainly helps readers to:</a:t>
            </a:r>
            <a:br>
              <a:rPr lang="en-US" sz="2000" dirty="0"/>
            </a:br>
            <a:r>
              <a:rPr lang="en-US" sz="2000" dirty="0"/>
              <a:t>A. Understand the statistical results</a:t>
            </a:r>
            <a:br>
              <a:rPr lang="en-US" sz="2000" dirty="0"/>
            </a:br>
            <a:r>
              <a:rPr lang="en-US" sz="2000" dirty="0"/>
              <a:t>B. Replicate the experiment</a:t>
            </a:r>
            <a:br>
              <a:rPr lang="en-US" sz="2000" dirty="0"/>
            </a:br>
            <a:r>
              <a:rPr lang="en-US" sz="2000" dirty="0"/>
              <a:t>C. Locate cited work</a:t>
            </a:r>
            <a:br>
              <a:rPr lang="en-US" sz="2000" dirty="0"/>
            </a:br>
            <a:r>
              <a:rPr lang="en-US" sz="2000" dirty="0"/>
              <a:t>D. Write the conclusion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305F1-57F8-E800-0FA9-0EEFE649F96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95926" y="4775163"/>
            <a:ext cx="2057400" cy="273844"/>
          </a:xfrm>
        </p:spPr>
        <p:txBody>
          <a:bodyPr/>
          <a:lstStyle/>
          <a:p>
            <a:fld id="{C7E44AE3-94A0-4811-AA8A-9F020B1893E0}" type="datetime1">
              <a:rPr lang="en-US" smtClean="0"/>
              <a:t>7/28/2025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321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>
          <a:extLst>
            <a:ext uri="{FF2B5EF4-FFF2-40B4-BE49-F238E27FC236}">
              <a16:creationId xmlns:a16="http://schemas.microsoft.com/office/drawing/2014/main" id="{913FDD27-7324-D2D0-0682-B31AC9370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3">
            <a:extLst>
              <a:ext uri="{FF2B5EF4-FFF2-40B4-BE49-F238E27FC236}">
                <a16:creationId xmlns:a16="http://schemas.microsoft.com/office/drawing/2014/main" id="{C9D0A256-A92B-E158-3518-C514707F643D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0220734" y="-3856910"/>
            <a:ext cx="9144000" cy="51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43">
            <a:extLst>
              <a:ext uri="{FF2B5EF4-FFF2-40B4-BE49-F238E27FC236}">
                <a16:creationId xmlns:a16="http://schemas.microsoft.com/office/drawing/2014/main" id="{74A0E931-E7EA-E4BA-E1F4-FDFBAEFAAE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13848" y="3501834"/>
            <a:ext cx="53550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4312" marR="0" lvl="0" indent="-21431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IN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14312" marR="0" lvl="0" indent="-21431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IN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14312" marR="0" lvl="0" indent="-21431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IN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734" name="Google Shape;734;p43">
            <a:extLst>
              <a:ext uri="{FF2B5EF4-FFF2-40B4-BE49-F238E27FC236}">
                <a16:creationId xmlns:a16="http://schemas.microsoft.com/office/drawing/2014/main" id="{F145BBB0-9D18-5B5B-8EFD-DD53CB3BC25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3">
            <a:extLst>
              <a:ext uri="{FF2B5EF4-FFF2-40B4-BE49-F238E27FC236}">
                <a16:creationId xmlns:a16="http://schemas.microsoft.com/office/drawing/2014/main" id="{33A5F81E-5C11-D3DF-E089-165575D7A1B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3">
            <a:extLst>
              <a:ext uri="{FF2B5EF4-FFF2-40B4-BE49-F238E27FC236}">
                <a16:creationId xmlns:a16="http://schemas.microsoft.com/office/drawing/2014/main" id="{4AD52338-AAB5-D7B2-F43E-C739E011878F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83C1BAE2-1289-4CAA-EE13-9619236DDCFF}"/>
              </a:ext>
            </a:extLst>
          </p:cNvPr>
          <p:cNvSpPr txBox="1"/>
          <p:nvPr/>
        </p:nvSpPr>
        <p:spPr>
          <a:xfrm>
            <a:off x="642167" y="622347"/>
            <a:ext cx="5493300" cy="13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endParaRPr sz="3600" b="0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9" name="Google Shape;739;p43">
            <a:extLst>
              <a:ext uri="{FF2B5EF4-FFF2-40B4-BE49-F238E27FC236}">
                <a16:creationId xmlns:a16="http://schemas.microsoft.com/office/drawing/2014/main" id="{F57BC3C1-3108-D3BD-3568-39A1CA29BFBE}"/>
              </a:ext>
            </a:extLst>
          </p:cNvPr>
          <p:cNvSpPr txBox="1"/>
          <p:nvPr/>
        </p:nvSpPr>
        <p:spPr>
          <a:xfrm>
            <a:off x="6511924" y="4767263"/>
            <a:ext cx="20574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11</a:t>
            </a:r>
            <a:endParaRPr/>
          </a:p>
        </p:txBody>
      </p:sp>
      <p:pic>
        <p:nvPicPr>
          <p:cNvPr id="740" name="Google Shape;740;p43">
            <a:extLst>
              <a:ext uri="{FF2B5EF4-FFF2-40B4-BE49-F238E27FC236}">
                <a16:creationId xmlns:a16="http://schemas.microsoft.com/office/drawing/2014/main" id="{EC16E47A-725D-2DDA-9D98-69D9F8DFDF5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3835" y="207090"/>
            <a:ext cx="813630" cy="217108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43">
            <a:extLst>
              <a:ext uri="{FF2B5EF4-FFF2-40B4-BE49-F238E27FC236}">
                <a16:creationId xmlns:a16="http://schemas.microsoft.com/office/drawing/2014/main" id="{D5A9EF8C-4F8C-65BC-A119-7D3ACC545CC5}"/>
              </a:ext>
            </a:extLst>
          </p:cNvPr>
          <p:cNvSpPr txBox="1"/>
          <p:nvPr/>
        </p:nvSpPr>
        <p:spPr>
          <a:xfrm>
            <a:off x="638175" y="1772885"/>
            <a:ext cx="7234238" cy="3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000" b="1" dirty="0"/>
              <a:t>The methodology section of a paper mainly helps readers to:</a:t>
            </a:r>
            <a:br>
              <a:rPr lang="en-US" sz="2000" dirty="0"/>
            </a:br>
            <a:r>
              <a:rPr lang="en-US" sz="2000" dirty="0"/>
              <a:t>A. Understand the statistical results</a:t>
            </a:r>
            <a:br>
              <a:rPr lang="en-US" sz="2000" dirty="0"/>
            </a:br>
            <a:r>
              <a:rPr lang="en-US" sz="2000" b="1" dirty="0"/>
              <a:t>B. Replicate the experiment</a:t>
            </a:r>
            <a:br>
              <a:rPr lang="en-US" sz="2000" dirty="0"/>
            </a:br>
            <a:r>
              <a:rPr lang="en-US" sz="2000" dirty="0"/>
              <a:t>C. Locate cited work</a:t>
            </a:r>
            <a:br>
              <a:rPr lang="en-US" sz="2000" dirty="0"/>
            </a:br>
            <a:r>
              <a:rPr lang="en-US" sz="2000" dirty="0"/>
              <a:t>D. Write the conclusion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A1F153-2EF9-F5A4-9C62-549EA45489D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95926" y="4775163"/>
            <a:ext cx="2057400" cy="273844"/>
          </a:xfrm>
        </p:spPr>
        <p:txBody>
          <a:bodyPr/>
          <a:lstStyle/>
          <a:p>
            <a:fld id="{C7E44AE3-94A0-4811-AA8A-9F020B1893E0}" type="datetime1">
              <a:rPr lang="en-US" smtClean="0"/>
              <a:t>7/28/2025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3154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>
          <a:extLst>
            <a:ext uri="{FF2B5EF4-FFF2-40B4-BE49-F238E27FC236}">
              <a16:creationId xmlns:a16="http://schemas.microsoft.com/office/drawing/2014/main" id="{A3083BB7-FBD3-12B2-BA09-3A06FADC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3">
            <a:extLst>
              <a:ext uri="{FF2B5EF4-FFF2-40B4-BE49-F238E27FC236}">
                <a16:creationId xmlns:a16="http://schemas.microsoft.com/office/drawing/2014/main" id="{3BBE6B14-2B36-BD54-9B27-1BB5980A400D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0220734" y="-3856910"/>
            <a:ext cx="9144000" cy="51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43">
            <a:extLst>
              <a:ext uri="{FF2B5EF4-FFF2-40B4-BE49-F238E27FC236}">
                <a16:creationId xmlns:a16="http://schemas.microsoft.com/office/drawing/2014/main" id="{F9DBE7DA-CEAA-709B-1B7D-84AC7E7176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13848" y="3501834"/>
            <a:ext cx="53550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4312" marR="0" lvl="0" indent="-21431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IN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14312" marR="0" lvl="0" indent="-21431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IN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14312" marR="0" lvl="0" indent="-21431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IN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734" name="Google Shape;734;p43">
            <a:extLst>
              <a:ext uri="{FF2B5EF4-FFF2-40B4-BE49-F238E27FC236}">
                <a16:creationId xmlns:a16="http://schemas.microsoft.com/office/drawing/2014/main" id="{293B0A33-BAD5-5029-1A25-4AAE97D0847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3">
            <a:extLst>
              <a:ext uri="{FF2B5EF4-FFF2-40B4-BE49-F238E27FC236}">
                <a16:creationId xmlns:a16="http://schemas.microsoft.com/office/drawing/2014/main" id="{B1FE3B0D-51F4-E7C6-6A88-A256C273DC7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3">
            <a:extLst>
              <a:ext uri="{FF2B5EF4-FFF2-40B4-BE49-F238E27FC236}">
                <a16:creationId xmlns:a16="http://schemas.microsoft.com/office/drawing/2014/main" id="{729EE5F0-A45B-8340-6EB2-B7626E08E18B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3FE0698E-0987-FF3F-CA94-2843697250D8}"/>
              </a:ext>
            </a:extLst>
          </p:cNvPr>
          <p:cNvSpPr txBox="1"/>
          <p:nvPr/>
        </p:nvSpPr>
        <p:spPr>
          <a:xfrm>
            <a:off x="642167" y="622347"/>
            <a:ext cx="5493300" cy="13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endParaRPr sz="3600" b="0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9" name="Google Shape;739;p43">
            <a:extLst>
              <a:ext uri="{FF2B5EF4-FFF2-40B4-BE49-F238E27FC236}">
                <a16:creationId xmlns:a16="http://schemas.microsoft.com/office/drawing/2014/main" id="{E80650AB-D467-B8AD-3C06-D408C291EE28}"/>
              </a:ext>
            </a:extLst>
          </p:cNvPr>
          <p:cNvSpPr txBox="1"/>
          <p:nvPr/>
        </p:nvSpPr>
        <p:spPr>
          <a:xfrm>
            <a:off x="6511924" y="4767263"/>
            <a:ext cx="20574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11</a:t>
            </a:r>
            <a:endParaRPr/>
          </a:p>
        </p:txBody>
      </p:sp>
      <p:pic>
        <p:nvPicPr>
          <p:cNvPr id="740" name="Google Shape;740;p43">
            <a:extLst>
              <a:ext uri="{FF2B5EF4-FFF2-40B4-BE49-F238E27FC236}">
                <a16:creationId xmlns:a16="http://schemas.microsoft.com/office/drawing/2014/main" id="{BB0CE442-A901-1131-08FD-E693DD63195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3835" y="207090"/>
            <a:ext cx="813630" cy="217108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43">
            <a:extLst>
              <a:ext uri="{FF2B5EF4-FFF2-40B4-BE49-F238E27FC236}">
                <a16:creationId xmlns:a16="http://schemas.microsoft.com/office/drawing/2014/main" id="{42863FF9-3DA5-F128-630C-C501589A94BA}"/>
              </a:ext>
            </a:extLst>
          </p:cNvPr>
          <p:cNvSpPr txBox="1"/>
          <p:nvPr/>
        </p:nvSpPr>
        <p:spPr>
          <a:xfrm>
            <a:off x="638175" y="1772885"/>
            <a:ext cx="7234238" cy="3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000" b="1" dirty="0"/>
              <a:t>Survey papers are primarily intended to:</a:t>
            </a:r>
            <a:br>
              <a:rPr lang="en-US" sz="2000" dirty="0"/>
            </a:br>
            <a:r>
              <a:rPr lang="en-US" sz="2000" dirty="0"/>
              <a:t>A. Present new experimental findings</a:t>
            </a:r>
            <a:br>
              <a:rPr lang="en-US" sz="2000" dirty="0"/>
            </a:br>
            <a:r>
              <a:rPr lang="en-US" sz="2000" dirty="0"/>
              <a:t>B. Describe a company's product</a:t>
            </a:r>
            <a:br>
              <a:rPr lang="en-US" sz="2000" dirty="0"/>
            </a:br>
            <a:r>
              <a:rPr lang="en-US" sz="2000" dirty="0"/>
              <a:t>C. Summarize existing work on a topic</a:t>
            </a:r>
            <a:br>
              <a:rPr lang="en-US" sz="2000" dirty="0"/>
            </a:br>
            <a:r>
              <a:rPr lang="en-US" sz="2000" dirty="0"/>
              <a:t>D. Compare research journals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E525E-29D2-887A-BBAF-F94932A3A15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95926" y="4775163"/>
            <a:ext cx="2057400" cy="273844"/>
          </a:xfrm>
        </p:spPr>
        <p:txBody>
          <a:bodyPr/>
          <a:lstStyle/>
          <a:p>
            <a:fld id="{C7E44AE3-94A0-4811-AA8A-9F020B1893E0}" type="datetime1">
              <a:rPr lang="en-US" smtClean="0"/>
              <a:t>7/28/2025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94877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>
          <a:extLst>
            <a:ext uri="{FF2B5EF4-FFF2-40B4-BE49-F238E27FC236}">
              <a16:creationId xmlns:a16="http://schemas.microsoft.com/office/drawing/2014/main" id="{9B974D2F-A8C5-B15D-7B2A-B704F632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3">
            <a:extLst>
              <a:ext uri="{FF2B5EF4-FFF2-40B4-BE49-F238E27FC236}">
                <a16:creationId xmlns:a16="http://schemas.microsoft.com/office/drawing/2014/main" id="{55A8C7F1-237A-EC4F-97A3-9808B712577E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0220734" y="-3856910"/>
            <a:ext cx="9144000" cy="51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43">
            <a:extLst>
              <a:ext uri="{FF2B5EF4-FFF2-40B4-BE49-F238E27FC236}">
                <a16:creationId xmlns:a16="http://schemas.microsoft.com/office/drawing/2014/main" id="{73584FA2-89C2-965D-D502-A4F07B7F0C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13848" y="3501834"/>
            <a:ext cx="53550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4312" marR="0" lvl="0" indent="-21431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IN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14312" marR="0" lvl="0" indent="-21431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IN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14312" marR="0" lvl="0" indent="-21431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IN" sz="1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734" name="Google Shape;734;p43">
            <a:extLst>
              <a:ext uri="{FF2B5EF4-FFF2-40B4-BE49-F238E27FC236}">
                <a16:creationId xmlns:a16="http://schemas.microsoft.com/office/drawing/2014/main" id="{1E7F870A-D061-51A2-49B6-C2A4A1F78F4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3">
            <a:extLst>
              <a:ext uri="{FF2B5EF4-FFF2-40B4-BE49-F238E27FC236}">
                <a16:creationId xmlns:a16="http://schemas.microsoft.com/office/drawing/2014/main" id="{A8DD7F9C-7FA2-682A-FE61-B14BF4B2667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3">
            <a:extLst>
              <a:ext uri="{FF2B5EF4-FFF2-40B4-BE49-F238E27FC236}">
                <a16:creationId xmlns:a16="http://schemas.microsoft.com/office/drawing/2014/main" id="{2AEDD888-801E-F4D6-64F7-31C727922EDB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F0BA38A9-F875-A2CF-A4D2-759848C218AF}"/>
              </a:ext>
            </a:extLst>
          </p:cNvPr>
          <p:cNvSpPr txBox="1"/>
          <p:nvPr/>
        </p:nvSpPr>
        <p:spPr>
          <a:xfrm>
            <a:off x="642167" y="622347"/>
            <a:ext cx="5493300" cy="13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endParaRPr sz="3600" b="0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9" name="Google Shape;739;p43">
            <a:extLst>
              <a:ext uri="{FF2B5EF4-FFF2-40B4-BE49-F238E27FC236}">
                <a16:creationId xmlns:a16="http://schemas.microsoft.com/office/drawing/2014/main" id="{4B9EC2A6-B6F8-F0B6-C94A-428A1A8738F7}"/>
              </a:ext>
            </a:extLst>
          </p:cNvPr>
          <p:cNvSpPr txBox="1"/>
          <p:nvPr/>
        </p:nvSpPr>
        <p:spPr>
          <a:xfrm>
            <a:off x="6511924" y="4767263"/>
            <a:ext cx="20574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11</a:t>
            </a:r>
            <a:endParaRPr/>
          </a:p>
        </p:txBody>
      </p:sp>
      <p:pic>
        <p:nvPicPr>
          <p:cNvPr id="740" name="Google Shape;740;p43">
            <a:extLst>
              <a:ext uri="{FF2B5EF4-FFF2-40B4-BE49-F238E27FC236}">
                <a16:creationId xmlns:a16="http://schemas.microsoft.com/office/drawing/2014/main" id="{89998EDA-F0FE-6664-5E32-80C1D6688BB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3835" y="207090"/>
            <a:ext cx="813630" cy="217108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43">
            <a:extLst>
              <a:ext uri="{FF2B5EF4-FFF2-40B4-BE49-F238E27FC236}">
                <a16:creationId xmlns:a16="http://schemas.microsoft.com/office/drawing/2014/main" id="{BD7E19C5-21C1-CEEE-6F6F-DF8908789620}"/>
              </a:ext>
            </a:extLst>
          </p:cNvPr>
          <p:cNvSpPr txBox="1"/>
          <p:nvPr/>
        </p:nvSpPr>
        <p:spPr>
          <a:xfrm>
            <a:off x="638175" y="1772885"/>
            <a:ext cx="7234238" cy="3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2000" b="1" dirty="0"/>
              <a:t>Survey papers are primarily intended to:</a:t>
            </a:r>
            <a:br>
              <a:rPr lang="en-US" sz="2000" dirty="0"/>
            </a:br>
            <a:r>
              <a:rPr lang="en-US" sz="2000" dirty="0"/>
              <a:t>A. Present new experimental findings</a:t>
            </a:r>
            <a:br>
              <a:rPr lang="en-US" sz="2000" dirty="0"/>
            </a:br>
            <a:r>
              <a:rPr lang="en-US" sz="2000" dirty="0"/>
              <a:t>B. Describe a company's product</a:t>
            </a:r>
            <a:br>
              <a:rPr lang="en-US" sz="2000" dirty="0"/>
            </a:br>
            <a:r>
              <a:rPr lang="en-US" sz="2000" b="1" dirty="0"/>
              <a:t>C. Summarize existing work on a topic</a:t>
            </a:r>
            <a:br>
              <a:rPr lang="en-US" sz="2000" b="1" dirty="0"/>
            </a:br>
            <a:r>
              <a:rPr lang="en-US" sz="2000" dirty="0"/>
              <a:t>D. Compare research journals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7ACB1F-A3DB-5E48-1178-04FD8454A00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95926" y="4775163"/>
            <a:ext cx="2057400" cy="273844"/>
          </a:xfrm>
        </p:spPr>
        <p:txBody>
          <a:bodyPr/>
          <a:lstStyle/>
          <a:p>
            <a:fld id="{C7E44AE3-94A0-4811-AA8A-9F020B1893E0}" type="datetime1">
              <a:rPr lang="en-US" smtClean="0"/>
              <a:t>7/28/2025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114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7"/>
          <p:cNvSpPr txBox="1"/>
          <p:nvPr/>
        </p:nvSpPr>
        <p:spPr>
          <a:xfrm>
            <a:off x="555037" y="2114911"/>
            <a:ext cx="6895272" cy="117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r>
              <a:rPr lang="en-IN" sz="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You!</a:t>
            </a:r>
            <a:endParaRPr sz="4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88" name="Google Shape;78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370" y="0"/>
            <a:ext cx="1356542" cy="1577482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47"/>
          <p:cNvSpPr txBox="1"/>
          <p:nvPr/>
        </p:nvSpPr>
        <p:spPr>
          <a:xfrm>
            <a:off x="1157111" y="716037"/>
            <a:ext cx="1655704" cy="131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50BC3-AC16-C6E7-5FD8-0A5672ADD1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A2FB09-7312-4D5B-93A3-10BA63EC883D}" type="datetime1">
              <a:rPr lang="en-US" smtClean="0"/>
              <a:t>7/28/2025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_UPGRAD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2590</Words>
  <Application>Microsoft Office PowerPoint</Application>
  <PresentationFormat>On-screen Show (16:9)</PresentationFormat>
  <Paragraphs>344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Times New Roman</vt:lpstr>
      <vt:lpstr>Arial</vt:lpstr>
      <vt:lpstr>Roboto</vt:lpstr>
      <vt:lpstr>Proxima Nova</vt:lpstr>
      <vt:lpstr>Calibri</vt:lpstr>
      <vt:lpstr>Lato</vt:lpstr>
      <vt:lpstr>MASTER_UPGRAD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Jagdeep sharma</cp:lastModifiedBy>
  <cp:revision>245</cp:revision>
  <dcterms:modified xsi:type="dcterms:W3CDTF">2025-07-28T12:13:35Z</dcterms:modified>
</cp:coreProperties>
</file>